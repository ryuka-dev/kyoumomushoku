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6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5" r:id="rId5"/>
    <p:sldMasterId id="2147483681" r:id="rId6"/>
    <p:sldMasterId id="2147483697" r:id="rId7"/>
    <p:sldMasterId id="2147483713" r:id="rId8"/>
    <p:sldMasterId id="2147483729" r:id="rId9"/>
    <p:sldMasterId id="2147483745" r:id="rId10"/>
  </p:sldMasterIdLst>
  <p:notesMasterIdLst>
    <p:notesMasterId r:id="rId19"/>
  </p:notesMasterIdLst>
  <p:sldIdLst>
    <p:sldId id="346" r:id="rId11"/>
    <p:sldId id="334" r:id="rId12"/>
    <p:sldId id="336" r:id="rId13"/>
    <p:sldId id="347" r:id="rId14"/>
    <p:sldId id="338" r:id="rId15"/>
    <p:sldId id="343" r:id="rId16"/>
    <p:sldId id="348" r:id="rId17"/>
    <p:sldId id="345" r:id="rId1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ヒラギノ角ゴ Pro W3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41A4"/>
    <a:srgbClr val="511E77"/>
    <a:srgbClr val="BF1F77"/>
    <a:srgbClr val="4001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>
        <a:font>
          <a:latin typeface="ヒラギノ角ゴ ProN W3"/>
          <a:ea typeface="ヒラギノ角ゴ ProN W3"/>
          <a:cs typeface="ヒラギノ角ゴ ProN W3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C8D8F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Row>
  </a:tblStyle>
  <a:tblStyle styleId="{D51ADE6A-740E-44AE-83CC-AE7238B6C88D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C8D8F">
              <a:alpha val="30000"/>
            </a:srgbClr>
          </a:solidFill>
        </a:fill>
      </a:tcStyle>
    </a:band2H>
    <a:firstCol>
      <a:tcTxStyle b="off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Col>
    <a:lastRow>
      <a:tcTxStyle b="off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lastRow>
    <a:firstRow>
      <a:tcTxStyle b="off" i="off">
        <a:fontRef idx="maj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520" autoAdjust="0"/>
  </p:normalViewPr>
  <p:slideViewPr>
    <p:cSldViewPr snapToGrid="0">
      <p:cViewPr varScale="1">
        <p:scale>
          <a:sx n="102" d="100"/>
          <a:sy n="102" d="100"/>
        </p:scale>
        <p:origin x="16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3" name="Shape 15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 b="0" i="0">
        <a:latin typeface="Yu Gothic Medium" panose="020B0400000000000000" pitchFamily="34" charset="-128"/>
        <a:ea typeface="Yu Gothic Medium" panose="020B0400000000000000" pitchFamily="34" charset="-128"/>
        <a:cs typeface="+mn-cs"/>
        <a:sym typeface="ヒラギノ角ゴ Pro W3"/>
      </a:defRPr>
    </a:lvl1pPr>
    <a:lvl2pPr indent="228600" defTabSz="584200" latinLnBrk="0">
      <a:defRPr sz="2200">
        <a:latin typeface="+mn-lt"/>
        <a:ea typeface="+mn-ea"/>
        <a:cs typeface="+mn-cs"/>
        <a:sym typeface="ヒラギノ角ゴ Pro W3"/>
      </a:defRPr>
    </a:lvl2pPr>
    <a:lvl3pPr indent="457200" defTabSz="584200" latinLnBrk="0">
      <a:defRPr sz="2200">
        <a:latin typeface="+mn-lt"/>
        <a:ea typeface="+mn-ea"/>
        <a:cs typeface="+mn-cs"/>
        <a:sym typeface="ヒラギノ角ゴ Pro W3"/>
      </a:defRPr>
    </a:lvl3pPr>
    <a:lvl4pPr indent="685800" defTabSz="584200" latinLnBrk="0">
      <a:defRPr sz="2200">
        <a:latin typeface="+mn-lt"/>
        <a:ea typeface="+mn-ea"/>
        <a:cs typeface="+mn-cs"/>
        <a:sym typeface="ヒラギノ角ゴ Pro W3"/>
      </a:defRPr>
    </a:lvl4pPr>
    <a:lvl5pPr indent="914400" defTabSz="584200" latinLnBrk="0">
      <a:defRPr sz="2200">
        <a:latin typeface="+mn-lt"/>
        <a:ea typeface="+mn-ea"/>
        <a:cs typeface="+mn-cs"/>
        <a:sym typeface="ヒラギノ角ゴ Pro W3"/>
      </a:defRPr>
    </a:lvl5pPr>
    <a:lvl6pPr indent="1143000" defTabSz="584200" latinLnBrk="0">
      <a:defRPr sz="2200">
        <a:latin typeface="+mn-lt"/>
        <a:ea typeface="+mn-ea"/>
        <a:cs typeface="+mn-cs"/>
        <a:sym typeface="ヒラギノ角ゴ Pro W3"/>
      </a:defRPr>
    </a:lvl6pPr>
    <a:lvl7pPr indent="1371600" defTabSz="584200" latinLnBrk="0">
      <a:defRPr sz="2200">
        <a:latin typeface="+mn-lt"/>
        <a:ea typeface="+mn-ea"/>
        <a:cs typeface="+mn-cs"/>
        <a:sym typeface="ヒラギノ角ゴ Pro W3"/>
      </a:defRPr>
    </a:lvl7pPr>
    <a:lvl8pPr indent="1600200" defTabSz="584200" latinLnBrk="0">
      <a:defRPr sz="2200">
        <a:latin typeface="+mn-lt"/>
        <a:ea typeface="+mn-ea"/>
        <a:cs typeface="+mn-cs"/>
        <a:sym typeface="ヒラギノ角ゴ Pro W3"/>
      </a:defRPr>
    </a:lvl8pPr>
    <a:lvl9pPr indent="1828800" defTabSz="584200" latinLnBrk="0">
      <a:defRPr sz="2200">
        <a:latin typeface="+mn-lt"/>
        <a:ea typeface="+mn-ea"/>
        <a:cs typeface="+mn-cs"/>
        <a:sym typeface="ヒラギノ角ゴ Pro W3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>
                <a:latin typeface="Yu Gothic Medium"/>
                <a:ea typeface="Yu Gothic Medium"/>
              </a:rPr>
              <a:t>チーム名：読みはUpDown</a:t>
            </a:r>
          </a:p>
          <a:p>
            <a:r>
              <a:rPr kumimoji="1" lang="ja-JP" altLang="en-US" dirty="0">
                <a:latin typeface="Yu Gothic Medium"/>
                <a:ea typeface="Yu Gothic Medium"/>
              </a:rPr>
              <a:t>目標：ダウンロードしてやってみたいなと思わせる</a:t>
            </a:r>
          </a:p>
        </p:txBody>
      </p:sp>
    </p:spTree>
    <p:extLst>
      <p:ext uri="{BB962C8B-B14F-4D97-AF65-F5344CB8AC3E}">
        <p14:creationId xmlns:p14="http://schemas.microsoft.com/office/powerpoint/2010/main" val="1742473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81355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81771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4816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64994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77177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>
                <a:solidFill>
                  <a:srgbClr val="000000"/>
                </a:solidFill>
                <a:cs typeface="Helvetica"/>
              </a:rPr>
              <a:t>1</a:t>
            </a:r>
            <a:r>
              <a:rPr lang="ja-JP" altLang="en-US">
                <a:solidFill>
                  <a:srgbClr val="000000"/>
                </a:solidFill>
                <a:cs typeface="Helvetica"/>
              </a:rPr>
              <a:t>枚目</a:t>
            </a:r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 lang="ja-JP" altLang="en-US"/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ja-JP" altLang="en-US"/>
              <a:t>2枚目</a:t>
            </a:r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 lang="ja-JP" altLang="en-US"/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ja-JP" altLang="en-US"/>
              <a:t>3枚目</a:t>
            </a:r>
          </a:p>
        </p:txBody>
      </p:sp>
    </p:spTree>
    <p:extLst>
      <p:ext uri="{BB962C8B-B14F-4D97-AF65-F5344CB8AC3E}">
        <p14:creationId xmlns:p14="http://schemas.microsoft.com/office/powerpoint/2010/main" val="1462587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dirty="0">
                <a:solidFill>
                  <a:srgbClr val="000000"/>
                </a:solidFill>
                <a:cs typeface="Helvetica"/>
              </a:rPr>
              <a:t>1</a:t>
            </a:r>
            <a:r>
              <a:rPr lang="ja-JP" altLang="en-US" dirty="0">
                <a:solidFill>
                  <a:srgbClr val="000000"/>
                </a:solidFill>
                <a:cs typeface="Helvetica"/>
              </a:rPr>
              <a:t>枚目</a:t>
            </a:r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 lang="ja-JP" altLang="en-US" dirty="0"/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ja-JP" altLang="en-US" dirty="0"/>
              <a:t>2枚目</a:t>
            </a:r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endParaRPr lang="ja-JP" altLang="en-US" dirty="0"/>
          </a:p>
          <a:p>
            <a:pPr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ja-JP" altLang="en-US" dirty="0"/>
              <a:t>3枚目</a:t>
            </a:r>
          </a:p>
        </p:txBody>
      </p:sp>
    </p:spTree>
    <p:extLst>
      <p:ext uri="{BB962C8B-B14F-4D97-AF65-F5344CB8AC3E}">
        <p14:creationId xmlns:p14="http://schemas.microsoft.com/office/powerpoint/2010/main" val="3564535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2 段組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5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6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イメージ"/>
          <p:cNvSpPr>
            <a:spLocks noGrp="1"/>
          </p:cNvSpPr>
          <p:nvPr>
            <p:ph type="pic" sz="half" idx="13"/>
          </p:nvPr>
        </p:nvSpPr>
        <p:spPr>
          <a:xfrm>
            <a:off x="2755900" y="1803400"/>
            <a:ext cx="6854401" cy="457200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79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8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9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9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0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イメージ"/>
          <p:cNvSpPr>
            <a:spLocks noGrp="1"/>
          </p:cNvSpPr>
          <p:nvPr>
            <p:ph type="pic" sz="quarter" idx="13"/>
          </p:nvPr>
        </p:nvSpPr>
        <p:spPr>
          <a:xfrm>
            <a:off x="7200900" y="2578100"/>
            <a:ext cx="4064000" cy="6092339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10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0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18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36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45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4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2 段組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5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6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イメージ"/>
          <p:cNvSpPr>
            <a:spLocks noGrp="1"/>
          </p:cNvSpPr>
          <p:nvPr>
            <p:ph type="pic" sz="half" idx="13"/>
          </p:nvPr>
        </p:nvSpPr>
        <p:spPr>
          <a:xfrm>
            <a:off x="2755900" y="1803400"/>
            <a:ext cx="6854401" cy="457200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79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8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9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9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0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イメージ"/>
          <p:cNvSpPr>
            <a:spLocks noGrp="1"/>
          </p:cNvSpPr>
          <p:nvPr>
            <p:ph type="pic" sz="quarter" idx="13"/>
          </p:nvPr>
        </p:nvSpPr>
        <p:spPr>
          <a:xfrm>
            <a:off x="7200900" y="2578100"/>
            <a:ext cx="4064000" cy="6092339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10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0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18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36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45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4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2 段組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5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6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イメージ"/>
          <p:cNvSpPr>
            <a:spLocks noGrp="1"/>
          </p:cNvSpPr>
          <p:nvPr>
            <p:ph type="pic" sz="half" idx="13"/>
          </p:nvPr>
        </p:nvSpPr>
        <p:spPr>
          <a:xfrm>
            <a:off x="2755900" y="1803400"/>
            <a:ext cx="6854401" cy="457200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79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8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9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9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0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イメージ"/>
          <p:cNvSpPr>
            <a:spLocks noGrp="1"/>
          </p:cNvSpPr>
          <p:nvPr>
            <p:ph type="pic" sz="quarter" idx="13"/>
          </p:nvPr>
        </p:nvSpPr>
        <p:spPr>
          <a:xfrm>
            <a:off x="7200900" y="2578100"/>
            <a:ext cx="4064000" cy="6092339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10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0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18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36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45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4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2 段組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5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6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イメージ"/>
          <p:cNvSpPr>
            <a:spLocks noGrp="1"/>
          </p:cNvSpPr>
          <p:nvPr>
            <p:ph type="pic" sz="half" idx="13"/>
          </p:nvPr>
        </p:nvSpPr>
        <p:spPr>
          <a:xfrm>
            <a:off x="2755900" y="1803400"/>
            <a:ext cx="6854401" cy="457200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79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8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9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9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0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イメージ"/>
          <p:cNvSpPr>
            <a:spLocks noGrp="1"/>
          </p:cNvSpPr>
          <p:nvPr>
            <p:ph type="pic" sz="quarter" idx="13"/>
          </p:nvPr>
        </p:nvSpPr>
        <p:spPr>
          <a:xfrm>
            <a:off x="7200900" y="2578100"/>
            <a:ext cx="4064000" cy="6092339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10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0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18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36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45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4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2 段組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5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6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イメージ"/>
          <p:cNvSpPr>
            <a:spLocks noGrp="1"/>
          </p:cNvSpPr>
          <p:nvPr>
            <p:ph type="pic" sz="half" idx="13"/>
          </p:nvPr>
        </p:nvSpPr>
        <p:spPr>
          <a:xfrm>
            <a:off x="2755900" y="1803400"/>
            <a:ext cx="6854401" cy="457200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79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8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9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9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0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イメージ"/>
          <p:cNvSpPr>
            <a:spLocks noGrp="1"/>
          </p:cNvSpPr>
          <p:nvPr>
            <p:ph type="pic" sz="quarter" idx="13"/>
          </p:nvPr>
        </p:nvSpPr>
        <p:spPr>
          <a:xfrm>
            <a:off x="7200900" y="2578100"/>
            <a:ext cx="4064000" cy="6092339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10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0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18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36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45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4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2 段組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5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6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イメージ"/>
          <p:cNvSpPr>
            <a:spLocks noGrp="1"/>
          </p:cNvSpPr>
          <p:nvPr>
            <p:ph type="pic" sz="half" idx="13"/>
          </p:nvPr>
        </p:nvSpPr>
        <p:spPr>
          <a:xfrm>
            <a:off x="2755900" y="1803400"/>
            <a:ext cx="6854401" cy="457200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79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8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9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9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0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イメージ"/>
          <p:cNvSpPr>
            <a:spLocks noGrp="1"/>
          </p:cNvSpPr>
          <p:nvPr>
            <p:ph type="pic" sz="quarter" idx="13"/>
          </p:nvPr>
        </p:nvSpPr>
        <p:spPr>
          <a:xfrm>
            <a:off x="7200900" y="2578100"/>
            <a:ext cx="4064000" cy="6092339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10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0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18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36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45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4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21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2 段組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30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5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6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イメージ"/>
          <p:cNvSpPr>
            <a:spLocks noGrp="1"/>
          </p:cNvSpPr>
          <p:nvPr>
            <p:ph type="pic" sz="half" idx="13"/>
          </p:nvPr>
        </p:nvSpPr>
        <p:spPr>
          <a:xfrm>
            <a:off x="2755900" y="1803400"/>
            <a:ext cx="6854401" cy="457200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79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8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8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9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、反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イメージ"/>
          <p:cNvSpPr>
            <a:spLocks noGrp="1"/>
          </p:cNvSpPr>
          <p:nvPr>
            <p:ph type="pic" sz="half" idx="13"/>
          </p:nvPr>
        </p:nvSpPr>
        <p:spPr>
          <a:xfrm>
            <a:off x="6946900" y="1447800"/>
            <a:ext cx="4572000" cy="6853881"/>
          </a:xfrm>
          <a:prstGeom prst="rect">
            <a:avLst/>
          </a:prstGeom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98" name="タイトルテキスト"/>
          <p:cNvSpPr txBox="1">
            <a:spLocks noGrp="1"/>
          </p:cNvSpPr>
          <p:nvPr>
            <p:ph type="title"/>
          </p:nvPr>
        </p:nvSpPr>
        <p:spPr>
          <a:xfrm>
            <a:off x="635000" y="15240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99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635000" y="49022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0" indent="0" algn="ctr">
              <a:spcBef>
                <a:spcPts val="0"/>
              </a:spcBef>
              <a:buSzTx/>
              <a:buNone/>
              <a:defRPr sz="34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0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イメージ"/>
          <p:cNvSpPr>
            <a:spLocks noGrp="1"/>
          </p:cNvSpPr>
          <p:nvPr>
            <p:ph type="pic" sz="quarter" idx="13"/>
          </p:nvPr>
        </p:nvSpPr>
        <p:spPr>
          <a:xfrm>
            <a:off x="7200900" y="2578100"/>
            <a:ext cx="4064000" cy="6092339"/>
          </a:xfrm>
          <a:prstGeom prst="rect">
            <a:avLst/>
          </a:prstGeom>
        </p:spPr>
        <p:txBody>
          <a:bodyPr lIns="91439" tIns="45719" rIns="91439" bIns="45719" anchor="t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endParaRPr/>
          </a:p>
        </p:txBody>
      </p:sp>
      <p:sp>
        <p:nvSpPr>
          <p:cNvPr id="10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09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18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1256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1701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21456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2590120" indent="-494620">
              <a:spcBef>
                <a:spcPts val="3800"/>
              </a:spcBef>
              <a:defRPr sz="32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36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>
              <a:spcBef>
                <a:spcPts val="2400"/>
              </a:spcBef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r>
              <a:rPr err="1"/>
              <a:t>タイトルテキスト</a:t>
            </a:r>
            <a:endParaRPr/>
          </a:p>
        </p:txBody>
      </p:sp>
      <p:sp>
        <p:nvSpPr>
          <p:cNvPr id="145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4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4" cy="379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Yu Gothic Medium" panose="020B0400000000000000" pitchFamily="34" charset="-128"/>
                <a:ea typeface="Yu Gothic Medium" panose="020B0400000000000000" pitchFamily="34" charset="-128"/>
                <a:cs typeface="+mj-cs"/>
                <a:sym typeface="Gill Sans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1E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rPr err="1"/>
              <a:t>タイトルテキスト</a:t>
            </a:r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3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55BAF-518D-2998-9152-AFCFC189AEEA}"/>
              </a:ext>
            </a:extLst>
          </p:cNvPr>
          <p:cNvSpPr txBox="1"/>
          <p:nvPr userDrawn="1"/>
        </p:nvSpPr>
        <p:spPr>
          <a:xfrm>
            <a:off x="202228" y="165511"/>
            <a:ext cx="435502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24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CREATION</a:t>
            </a:r>
            <a:r>
              <a:rPr kumimoji="0" lang="ja-JP" altLang="en-US" sz="2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・クリエイション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1700569-A06C-57FC-5CF0-C75B3B7EA96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12000"/>
          </a:blip>
          <a:stretch>
            <a:fillRect/>
          </a:stretch>
        </p:blipFill>
        <p:spPr>
          <a:xfrm>
            <a:off x="2616200" y="653681"/>
            <a:ext cx="7772400" cy="8741198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813"/>
            </a:gs>
            <a:gs pos="100000">
              <a:srgbClr val="0C0B0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ANバー"/>
          <p:cNvSpPr/>
          <p:nvPr/>
        </p:nvSpPr>
        <p:spPr>
          <a:xfrm>
            <a:off x="0" y="0"/>
            <a:ext cx="1524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45000">
                <a:srgbClr val="C7872B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rPr err="1"/>
              <a:t>タイトルテキスト</a:t>
            </a:r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3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55BAF-518D-2998-9152-AFCFC189AEEA}"/>
              </a:ext>
            </a:extLst>
          </p:cNvPr>
          <p:cNvSpPr txBox="1"/>
          <p:nvPr userDrawn="1"/>
        </p:nvSpPr>
        <p:spPr>
          <a:xfrm>
            <a:off x="202228" y="165511"/>
            <a:ext cx="435502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2400" b="1" i="0" u="none" strike="noStrike" cap="none" spc="0" normalizeH="0" baseline="0" dirty="0">
                <a:ln>
                  <a:noFill/>
                </a:ln>
                <a:solidFill>
                  <a:srgbClr val="9C978B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今日も無職。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813"/>
            </a:gs>
            <a:gs pos="100000">
              <a:srgbClr val="0C0B0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ANバー"/>
          <p:cNvSpPr/>
          <p:nvPr/>
        </p:nvSpPr>
        <p:spPr>
          <a:xfrm>
            <a:off x="0" y="0"/>
            <a:ext cx="1524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45000">
                <a:srgbClr val="C7872B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rPr err="1"/>
              <a:t>タイトルテキスト</a:t>
            </a:r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3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55BAF-518D-2998-9152-AFCFC189AEEA}"/>
              </a:ext>
            </a:extLst>
          </p:cNvPr>
          <p:cNvSpPr txBox="1"/>
          <p:nvPr userDrawn="1"/>
        </p:nvSpPr>
        <p:spPr>
          <a:xfrm>
            <a:off x="202228" y="165511"/>
            <a:ext cx="435502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2400" b="1" i="0" u="none" strike="noStrike" cap="none" spc="0" normalizeH="0" baseline="0" dirty="0">
                <a:ln>
                  <a:noFill/>
                </a:ln>
                <a:solidFill>
                  <a:srgbClr val="9C978B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今日も無職。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813"/>
            </a:gs>
            <a:gs pos="100000">
              <a:srgbClr val="0C0B0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ANバー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42000">
                <a:srgbClr val="C7872B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ANバー"/>
          <p:cNvSpPr/>
          <p:nvPr/>
        </p:nvSpPr>
        <p:spPr>
          <a:xfrm>
            <a:off x="0" y="0"/>
            <a:ext cx="1524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45000">
                <a:srgbClr val="C7872B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rPr err="1"/>
              <a:t>タイトルテキスト</a:t>
            </a:r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3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55BAF-518D-2998-9152-AFCFC189AEEA}"/>
              </a:ext>
            </a:extLst>
          </p:cNvPr>
          <p:cNvSpPr txBox="1"/>
          <p:nvPr userDrawn="1"/>
        </p:nvSpPr>
        <p:spPr>
          <a:xfrm>
            <a:off x="202228" y="165511"/>
            <a:ext cx="435502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2400" b="1" i="0" u="none" strike="noStrike" cap="none" spc="0" normalizeH="0" baseline="0" dirty="0">
                <a:ln>
                  <a:noFill/>
                </a:ln>
                <a:solidFill>
                  <a:srgbClr val="9C978B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今日も無職。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813"/>
            </a:gs>
            <a:gs pos="100000">
              <a:srgbClr val="0C0B0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ANバー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42000">
                <a:srgbClr val="C7872B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ANバー"/>
          <p:cNvSpPr/>
          <p:nvPr/>
        </p:nvSpPr>
        <p:spPr>
          <a:xfrm>
            <a:off x="0" y="0"/>
            <a:ext cx="1524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45000">
                <a:srgbClr val="C7872B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rPr err="1"/>
              <a:t>タイトルテキスト</a:t>
            </a:r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3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55BAF-518D-2998-9152-AFCFC189AEEA}"/>
              </a:ext>
            </a:extLst>
          </p:cNvPr>
          <p:cNvSpPr txBox="1"/>
          <p:nvPr userDrawn="1"/>
        </p:nvSpPr>
        <p:spPr>
          <a:xfrm>
            <a:off x="202228" y="165511"/>
            <a:ext cx="435502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2400" b="1" i="0" u="none" strike="noStrike" cap="none" spc="0" normalizeH="0" baseline="0" dirty="0">
                <a:ln>
                  <a:noFill/>
                </a:ln>
                <a:solidFill>
                  <a:srgbClr val="9C978B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今日も無職。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ECE7DD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813"/>
            </a:gs>
            <a:gs pos="100000">
              <a:srgbClr val="0C0B0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anbar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rPr err="1"/>
              <a:t>タイトルテキスト</a:t>
            </a:r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3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55BAF-518D-2998-9152-AFCFC189AEEA}"/>
              </a:ext>
            </a:extLst>
          </p:cNvPr>
          <p:cNvSpPr txBox="1"/>
          <p:nvPr userDrawn="1"/>
        </p:nvSpPr>
        <p:spPr>
          <a:xfrm>
            <a:off x="202228" y="165511"/>
            <a:ext cx="435502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2400" b="1" i="0" u="none" strike="noStrike" cap="none" spc="0" normalizeH="0" baseline="0" dirty="0">
                <a:solidFill>
                  <a:srgbClr val="8C877B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今日も無職。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813"/>
            </a:gs>
            <a:gs pos="100000">
              <a:srgbClr val="0C0B0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本文レベル1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rPr err="1"/>
              <a:t>タイトルテキスト</a:t>
            </a:r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498" y="9247009"/>
            <a:ext cx="375103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 b="0" i="0"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55BAF-518D-2998-9152-AFCFC189AEEA}"/>
              </a:ext>
            </a:extLst>
          </p:cNvPr>
          <p:cNvSpPr txBox="1"/>
          <p:nvPr userDrawn="1"/>
        </p:nvSpPr>
        <p:spPr>
          <a:xfrm>
            <a:off x="202228" y="165511"/>
            <a:ext cx="435502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2400" b="1" i="0" u="none" strike="noStrike" cap="none" spc="0" normalizeH="0" baseline="0" dirty="0">
                <a:solidFill>
                  <a:srgbClr val="8C877B"/>
                </a:solidFill>
                <a:effectLst/>
                <a:uFillTx/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  <a:sym typeface="ヒラギノ角ゴ Pro W3"/>
              </a:rPr>
              <a:t>今日も無職。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Yu Gothic Medium" panose="020B0400000000000000" pitchFamily="34" charset="-128"/>
          <a:ea typeface="Yu Gothic Medium" panose="020B0400000000000000" pitchFamily="34" charset="-128"/>
          <a:cs typeface="+mn-cs"/>
          <a:sym typeface="ヒラギノ角ゴ Pro W3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sz="4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 W3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コンセプトとは？"/>
          <p:cNvSpPr txBox="1">
            <a:spLocks noGrp="1"/>
          </p:cNvSpPr>
          <p:nvPr>
            <p:ph type="ctrTitle"/>
          </p:nvPr>
        </p:nvSpPr>
        <p:spPr>
          <a:xfrm>
            <a:off x="889000" y="5969000"/>
            <a:ext cx="1143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000" b="1">
                <a:solidFill>
                  <a:srgbClr val="ECE7DD"/>
                </a:solidFill>
              </a:rPr>
              <a:t>拾って、逃げて、その日を生きる。</a:t>
            </a:r>
          </a:p>
          <a:p>
            <a:pPr algn="l">
              <a:spcBef>
                <a:spcPts val="600"/>
              </a:spcBef>
            </a:pPr>
            <a:r>
              <a:rPr lang="ja-JP" sz="2000">
                <a:solidFill>
                  <a:srgbClr val="B8B3A8"/>
                </a:solidFill>
              </a:rPr>
              <a:t>都市に排除される者から、都市を使いこなす者へ。</a:t>
            </a:r>
          </a:p>
        </p:txBody>
      </p:sp>
      <p:sp>
        <p:nvSpPr>
          <p:cNvPr id="2" name="コンセプトとは？">
            <a:extLst>
              <a:ext uri="{FF2B5EF4-FFF2-40B4-BE49-F238E27FC236}">
                <a16:creationId xmlns:a16="http://schemas.microsoft.com/office/drawing/2014/main" id="{F4E7B048-A1F1-23E0-BA72-3798EEE52FE3}"/>
              </a:ext>
            </a:extLst>
          </p:cNvPr>
          <p:cNvSpPr txBox="1">
            <a:spLocks/>
          </p:cNvSpPr>
          <p:nvPr/>
        </p:nvSpPr>
        <p:spPr>
          <a:xfrm>
            <a:off x="889000" y="8890000"/>
            <a:ext cx="11430000" cy="50800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t"/>
          <a:lstStyle/>
          <a:p>
            <a:pPr algn="l"/>
            <a:r>
              <a:rPr lang="ja-JP" sz="1600" b="1">
                <a:solidFill>
                  <a:srgbClr val="E8A33C"/>
                </a:solidFill>
              </a:rPr>
              <a:t>制作　</a:t>
            </a:r>
            <a:r>
              <a:rPr lang="ja-JP" sz="1600">
                <a:solidFill>
                  <a:srgbClr val="ECE7DD"/>
                </a:solidFill>
              </a:rPr>
              <a:t>無職研究会　｜　メンバー名・メンバー名</a:t>
            </a:r>
          </a:p>
        </p:txBody>
      </p:sp>
      <p:sp>
        <p:nvSpPr>
          <p:cNvPr id="5" name="MK21 / MK19 / MK11…">
            <a:extLst>
              <a:ext uri="{FF2B5EF4-FFF2-40B4-BE49-F238E27FC236}">
                <a16:creationId xmlns:a16="http://schemas.microsoft.com/office/drawing/2014/main" id="{B44B20C8-8AD0-A00B-4464-957A0C784266}"/>
              </a:ext>
            </a:extLst>
          </p:cNvPr>
          <p:cNvSpPr txBox="1">
            <a:spLocks/>
          </p:cNvSpPr>
          <p:nvPr/>
        </p:nvSpPr>
        <p:spPr>
          <a:xfrm>
            <a:off x="812800" y="2997200"/>
            <a:ext cx="11582400" cy="264160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t"/>
          <a:lstStyle/>
          <a:p>
            <a:pPr algn="l"/>
            <a:r>
              <a:rPr lang="ja-JP" sz="12800" b="1" spc="-200">
                <a:solidFill>
                  <a:srgbClr val="ECE7DD"/>
                </a:solidFill>
              </a:rPr>
              <a:t>今日も無職</a:t>
            </a:r>
            <a:r>
              <a:rPr lang="ja-JP" sz="12800" b="1" spc="-200">
                <a:solidFill>
                  <a:srgbClr val="E8A33C"/>
                </a:solidFill>
              </a:rPr>
              <a:t>。</a:t>
            </a:r>
          </a:p>
        </p:txBody>
      </p:sp>
      <p:sp>
        <p:nvSpPr>
          <p:cNvPr id="201" name="kicker"/>
          <p:cNvSpPr txBox="1"/>
          <p:nvPr/>
        </p:nvSpPr>
        <p:spPr>
          <a:xfrm>
            <a:off x="889000" y="21336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1" spc="500">
                <a:solidFill>
                  <a:srgbClr val="E8A33C"/>
                </a:solidFill>
              </a:rPr>
              <a:t>2D 横スクロール　都市サバイバル探索ゲーム</a:t>
            </a:r>
          </a:p>
        </p:txBody>
      </p:sp>
      <p:sp>
        <p:nvSpPr>
          <p:cNvPr id="202" name="rule"/>
          <p:cNvSpPr/>
          <p:nvPr/>
        </p:nvSpPr>
        <p:spPr>
          <a:xfrm>
            <a:off x="914400" y="5740400"/>
            <a:ext cx="14732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hud"/>
          <p:cNvSpPr txBox="1"/>
          <p:nvPr/>
        </p:nvSpPr>
        <p:spPr>
          <a:xfrm>
            <a:off x="889000" y="7772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 spc="200">
                <a:solidFill>
                  <a:srgbClr val="9C978B"/>
                </a:solidFill>
              </a:rPr>
              <a:t>渇き </a:t>
            </a:r>
            <a:r>
              <a:rPr lang="en-US" sz="1600" spc="100">
                <a:solidFill>
                  <a:srgbClr val="ECE7DD"/>
                </a:solidFill>
              </a:rPr>
              <a:t>●●●●●○　</a:t>
            </a:r>
            <a:r>
              <a:rPr lang="ja-JP" sz="1600" b="1" spc="200">
                <a:solidFill>
                  <a:srgbClr val="9C978B"/>
                </a:solidFill>
              </a:rPr>
              <a:t>空腹 </a:t>
            </a:r>
            <a:r>
              <a:rPr lang="en-US" sz="1600" spc="100">
                <a:solidFill>
                  <a:srgbClr val="ECE7DD"/>
                </a:solidFill>
              </a:rPr>
              <a:t>●●●●○○　</a:t>
            </a:r>
            <a:r>
              <a:rPr lang="en-US" sz="1600" b="1" spc="200">
                <a:solidFill>
                  <a:srgbClr val="E8A33C"/>
                </a:solidFill>
              </a:rPr>
              <a:t>SAN </a:t>
            </a:r>
            <a:r>
              <a:rPr lang="en-US" sz="1600" spc="100">
                <a:solidFill>
                  <a:srgbClr val="E8A33C"/>
                </a:solidFill>
              </a:rPr>
              <a:t>●●●●●●●●○○</a:t>
            </a:r>
          </a:p>
        </p:txBody>
      </p:sp>
    </p:spTree>
    <p:extLst>
      <p:ext uri="{BB962C8B-B14F-4D97-AF65-F5344CB8AC3E}">
        <p14:creationId xmlns:p14="http://schemas.microsoft.com/office/powerpoint/2010/main" val="250956966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anbar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914400" y="7366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1700" b="1" spc="400">
                <a:solidFill>
                  <a:srgbClr val="E8A33C"/>
                </a:solidFill>
              </a:rPr>
              <a:t>① これは何のゲーム？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1143000"/>
            <a:ext cx="11379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3400" b="1">
                <a:solidFill>
                  <a:srgbClr val="ECE7DD"/>
                </a:solidFill>
              </a:rPr>
              <a:t>拡大し続ける都市を、無職で生き延びる。</a:t>
            </a:r>
          </a:p>
        </p:txBody>
      </p:sp>
      <p:sp>
        <p:nvSpPr>
          <p:cNvPr id="212" name="r212"/>
          <p:cNvSpPr/>
          <p:nvPr/>
        </p:nvSpPr>
        <p:spPr>
          <a:xfrm>
            <a:off x="939800" y="2032000"/>
            <a:ext cx="15240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3"/>
          <p:cNvSpPr txBox="1"/>
          <p:nvPr/>
        </p:nvSpPr>
        <p:spPr>
          <a:xfrm>
            <a:off x="914400" y="23114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2000" b="1">
                <a:solidFill>
                  <a:srgbClr val="ECE7DD"/>
                </a:solidFill>
              </a:rPr>
              <a:t>都市サバイバルの圧力</a:t>
            </a:r>
            <a:r>
              <a:rPr lang="ja-JP" sz="2000" b="1">
                <a:solidFill>
                  <a:srgbClr val="E8A33C"/>
                </a:solidFill>
              </a:rPr>
              <a:t>　＋　</a:t>
            </a:r>
            <a:r>
              <a:rPr lang="ja-JP" sz="2000" b="1">
                <a:solidFill>
                  <a:srgbClr val="ECE7DD"/>
                </a:solidFill>
              </a:rPr>
              <a:t>資源収集</a:t>
            </a:r>
            <a:r>
              <a:rPr lang="ja-JP" sz="2000" b="1">
                <a:solidFill>
                  <a:srgbClr val="E8A33C"/>
                </a:solidFill>
              </a:rPr>
              <a:t>　＋　</a:t>
            </a:r>
            <a:r>
              <a:rPr lang="ja-JP" sz="2000" b="1">
                <a:solidFill>
                  <a:srgbClr val="ECE7DD"/>
                </a:solidFill>
              </a:rPr>
              <a:t>リスク回避</a:t>
            </a:r>
            <a:r>
              <a:rPr lang="ja-JP" sz="2000" b="1">
                <a:solidFill>
                  <a:srgbClr val="E8A33C"/>
                </a:solidFill>
              </a:rPr>
              <a:t>　＋　</a:t>
            </a:r>
            <a:r>
              <a:rPr lang="ja-JP" sz="2000" b="1">
                <a:solidFill>
                  <a:srgbClr val="ECE7DD"/>
                </a:solidFill>
              </a:rPr>
              <a:t>成長による逆転</a:t>
            </a:r>
          </a:p>
        </p:txBody>
      </p:sp>
      <p:sp>
        <p:nvSpPr>
          <p:cNvPr id="214" name="g214"/>
          <p:cNvSpPr/>
          <p:nvPr/>
        </p:nvSpPr>
        <p:spPr>
          <a:xfrm>
            <a:off x="914400" y="3276600"/>
            <a:ext cx="11379200" cy="1270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44413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r220"/>
          <p:cNvSpPr/>
          <p:nvPr/>
        </p:nvSpPr>
        <p:spPr>
          <a:xfrm>
            <a:off x="914400" y="3683000"/>
            <a:ext cx="3606800" cy="47244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r221"/>
          <p:cNvSpPr/>
          <p:nvPr/>
        </p:nvSpPr>
        <p:spPr>
          <a:xfrm>
            <a:off x="914400" y="3683000"/>
            <a:ext cx="36068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t222"/>
          <p:cNvSpPr txBox="1"/>
          <p:nvPr/>
        </p:nvSpPr>
        <p:spPr>
          <a:xfrm>
            <a:off x="1193800" y="4543981"/>
            <a:ext cx="3098800" cy="32519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4400" b="1" dirty="0">
                <a:solidFill>
                  <a:srgbClr val="E8A33C"/>
                </a:solidFill>
              </a:rPr>
              <a:t>昼</a:t>
            </a:r>
            <a:r>
              <a:rPr lang="ja-JP" sz="1500" b="1" spc="300" dirty="0">
                <a:solidFill>
                  <a:srgbClr val="8C877B"/>
                </a:solidFill>
              </a:rPr>
              <a:t>  DAY</a:t>
            </a:r>
          </a:p>
          <a:p>
            <a:pPr>
              <a:spcBef>
                <a:spcPts val="300"/>
              </a:spcBef>
            </a:pPr>
            <a:endParaRPr lang="en-US" altLang="ja-JP" sz="1600" b="1" dirty="0">
              <a:solidFill>
                <a:srgbClr val="D8D2C4"/>
              </a:solidFill>
            </a:endParaRPr>
          </a:p>
          <a:p>
            <a:pPr>
              <a:spcBef>
                <a:spcPts val="300"/>
              </a:spcBef>
            </a:pPr>
            <a:r>
              <a:rPr lang="ja-JP" sz="1600" b="1" dirty="0">
                <a:solidFill>
                  <a:srgbClr val="D8D2C4"/>
                </a:solidFill>
              </a:rPr>
              <a:t>まず、生き延びる</a:t>
            </a:r>
          </a:p>
          <a:p>
            <a:pPr>
              <a:spcBef>
                <a:spcPts val="600"/>
              </a:spcBef>
            </a:pPr>
            <a:endParaRPr lang="en-US" altLang="ja-JP" sz="1700" b="1" dirty="0">
              <a:solidFill>
                <a:srgbClr val="E8A33C"/>
              </a:solidFill>
            </a:endParaRP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sz="1700" dirty="0">
                <a:solidFill>
                  <a:srgbClr val="ECE7DD"/>
                </a:solidFill>
              </a:rPr>
              <a:t>水と食料を確保する</a:t>
            </a: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sz="1700" dirty="0">
                <a:solidFill>
                  <a:srgbClr val="ECE7DD"/>
                </a:solidFill>
              </a:rPr>
              <a:t>ゴミ箱を漁って稼ぐ</a:t>
            </a: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sz="1700" dirty="0">
                <a:solidFill>
                  <a:srgbClr val="ECE7DD"/>
                </a:solidFill>
              </a:rPr>
              <a:t>警察に近づかない</a:t>
            </a:r>
          </a:p>
        </p:txBody>
      </p:sp>
      <p:sp>
        <p:nvSpPr>
          <p:cNvPr id="223" name="r223"/>
          <p:cNvSpPr/>
          <p:nvPr/>
        </p:nvSpPr>
        <p:spPr>
          <a:xfrm>
            <a:off x="4800600" y="3683000"/>
            <a:ext cx="3606800" cy="47244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r224"/>
          <p:cNvSpPr/>
          <p:nvPr/>
        </p:nvSpPr>
        <p:spPr>
          <a:xfrm>
            <a:off x="4800600" y="3683000"/>
            <a:ext cx="36068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225"/>
          <p:cNvSpPr txBox="1"/>
          <p:nvPr/>
        </p:nvSpPr>
        <p:spPr>
          <a:xfrm>
            <a:off x="4800600" y="4543981"/>
            <a:ext cx="3657600" cy="32519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4400" b="1" dirty="0">
                <a:solidFill>
                  <a:srgbClr val="E8A33C"/>
                </a:solidFill>
              </a:rPr>
              <a:t>夕方</a:t>
            </a:r>
            <a:r>
              <a:rPr lang="ja-JP" sz="1500" b="1" spc="300" dirty="0">
                <a:solidFill>
                  <a:srgbClr val="8C877B"/>
                </a:solidFill>
              </a:rPr>
              <a:t>  EVENING</a:t>
            </a:r>
          </a:p>
          <a:p>
            <a:pPr>
              <a:spcBef>
                <a:spcPts val="300"/>
              </a:spcBef>
            </a:pPr>
            <a:endParaRPr lang="en-US" altLang="ja-JP" sz="1600" b="1" dirty="0">
              <a:solidFill>
                <a:srgbClr val="D8D2C4"/>
              </a:solidFill>
            </a:endParaRPr>
          </a:p>
          <a:p>
            <a:pPr>
              <a:spcBef>
                <a:spcPts val="300"/>
              </a:spcBef>
            </a:pPr>
            <a:r>
              <a:rPr lang="ja-JP" sz="1600" b="1" dirty="0">
                <a:solidFill>
                  <a:srgbClr val="D8D2C4"/>
                </a:solidFill>
              </a:rPr>
              <a:t>警告――目が厳しくなる</a:t>
            </a:r>
          </a:p>
          <a:p>
            <a:pPr>
              <a:spcBef>
                <a:spcPts val="600"/>
              </a:spcBef>
            </a:pPr>
            <a:endParaRPr lang="en-US" altLang="ja-JP" sz="1700" b="1" dirty="0">
              <a:solidFill>
                <a:srgbClr val="E8A33C"/>
              </a:solidFill>
            </a:endParaRP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altLang="en-US" sz="1700" dirty="0">
                <a:solidFill>
                  <a:srgbClr val="ECE7DD"/>
                </a:solidFill>
              </a:rPr>
              <a:t>警察の警戒が強まる</a:t>
            </a:r>
            <a:endParaRPr lang="ja-JP" sz="1700" dirty="0">
              <a:solidFill>
                <a:srgbClr val="ECE7DD"/>
              </a:solidFill>
            </a:endParaRP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altLang="en-US" sz="1700" dirty="0">
                <a:solidFill>
                  <a:srgbClr val="ECE7DD"/>
                </a:solidFill>
              </a:rPr>
              <a:t>夜にしか得られない資源が現れる</a:t>
            </a:r>
            <a:endParaRPr lang="ja-JP" sz="1700" dirty="0">
              <a:solidFill>
                <a:srgbClr val="ECE7DD"/>
              </a:solidFill>
            </a:endParaRP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sz="1700" dirty="0">
                <a:solidFill>
                  <a:srgbClr val="ECE7DD"/>
                </a:solidFill>
              </a:rPr>
              <a:t>そろそろ寝床を探す</a:t>
            </a:r>
          </a:p>
        </p:txBody>
      </p:sp>
      <p:sp>
        <p:nvSpPr>
          <p:cNvPr id="226" name="r226"/>
          <p:cNvSpPr/>
          <p:nvPr/>
        </p:nvSpPr>
        <p:spPr>
          <a:xfrm>
            <a:off x="8686800" y="3683000"/>
            <a:ext cx="3606800" cy="47244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r227"/>
          <p:cNvSpPr/>
          <p:nvPr/>
        </p:nvSpPr>
        <p:spPr>
          <a:xfrm>
            <a:off x="8686800" y="3683000"/>
            <a:ext cx="36068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t228"/>
          <p:cNvSpPr txBox="1"/>
          <p:nvPr/>
        </p:nvSpPr>
        <p:spPr>
          <a:xfrm>
            <a:off x="8737600" y="4543981"/>
            <a:ext cx="3556000" cy="32519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4400" b="1" dirty="0">
                <a:solidFill>
                  <a:srgbClr val="E8A33C"/>
                </a:solidFill>
              </a:rPr>
              <a:t>夜</a:t>
            </a:r>
            <a:r>
              <a:rPr lang="ja-JP" sz="1500" b="1" spc="300" dirty="0">
                <a:solidFill>
                  <a:srgbClr val="8C877B"/>
                </a:solidFill>
              </a:rPr>
              <a:t>  NIGHT</a:t>
            </a:r>
          </a:p>
          <a:p>
            <a:pPr>
              <a:spcBef>
                <a:spcPts val="300"/>
              </a:spcBef>
            </a:pPr>
            <a:endParaRPr lang="en-US" altLang="ja-JP" sz="1600" b="1" dirty="0">
              <a:solidFill>
                <a:srgbClr val="D8D2C4"/>
              </a:solidFill>
            </a:endParaRPr>
          </a:p>
          <a:p>
            <a:pPr>
              <a:spcBef>
                <a:spcPts val="300"/>
              </a:spcBef>
            </a:pPr>
            <a:r>
              <a:rPr lang="ja-JP" sz="1600" b="1" dirty="0">
                <a:solidFill>
                  <a:srgbClr val="D8D2C4"/>
                </a:solidFill>
              </a:rPr>
              <a:t>高リスク</a:t>
            </a:r>
          </a:p>
          <a:p>
            <a:pPr>
              <a:spcBef>
                <a:spcPts val="600"/>
              </a:spcBef>
            </a:pPr>
            <a:endParaRPr lang="en-US" altLang="ja-JP" sz="1700" b="1" dirty="0">
              <a:solidFill>
                <a:srgbClr val="E8A33C"/>
              </a:solidFill>
            </a:endParaRP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sz="1700" dirty="0">
                <a:solidFill>
                  <a:srgbClr val="ECE7DD"/>
                </a:solidFill>
              </a:rPr>
              <a:t>寝床で眠る＝オートセーブ</a:t>
            </a: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altLang="en-US" sz="1700" dirty="0">
                <a:solidFill>
                  <a:srgbClr val="ECE7DD"/>
                </a:solidFill>
              </a:rPr>
              <a:t>ゴミ箱を再び漁れるようになる</a:t>
            </a:r>
            <a:endParaRPr lang="ja-JP" sz="1700" dirty="0">
              <a:solidFill>
                <a:srgbClr val="ECE7DD"/>
              </a:solidFill>
            </a:endParaRPr>
          </a:p>
          <a:p>
            <a:pPr>
              <a:spcBef>
                <a:spcPts val="600"/>
              </a:spcBef>
            </a:pPr>
            <a:r>
              <a:rPr lang="ja-JP" sz="1700" b="1" dirty="0">
                <a:solidFill>
                  <a:srgbClr val="E8A33C"/>
                </a:solidFill>
              </a:rPr>
              <a:t>―  </a:t>
            </a:r>
            <a:r>
              <a:rPr lang="ja-JP" sz="1700" dirty="0">
                <a:solidFill>
                  <a:srgbClr val="ECE7DD"/>
                </a:solidFill>
              </a:rPr>
              <a:t>渇き・空腹・SANは減り続ける</a:t>
            </a:r>
          </a:p>
        </p:txBody>
      </p:sp>
      <p:sp>
        <p:nvSpPr>
          <p:cNvPr id="240" name="t240"/>
          <p:cNvSpPr txBox="1"/>
          <p:nvPr/>
        </p:nvSpPr>
        <p:spPr>
          <a:xfrm>
            <a:off x="914400" y="86106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1500">
                <a:solidFill>
                  <a:srgbClr val="B8B3A8"/>
                </a:solidFill>
              </a:rPr>
              <a:t>1周 約20〜30分。ソフトクロック制――強制の締め切りはなく、“そろそろ戻るべき”という圧力だけが働く。</a:t>
            </a:r>
          </a:p>
        </p:txBody>
      </p:sp>
    </p:spTree>
    <p:extLst>
      <p:ext uri="{BB962C8B-B14F-4D97-AF65-F5344CB8AC3E}">
        <p14:creationId xmlns:p14="http://schemas.microsoft.com/office/powerpoint/2010/main" val="173699638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90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914400" y="7366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1700" b="1" spc="400">
                <a:solidFill>
                  <a:srgbClr val="E8A33C"/>
                </a:solidFill>
              </a:rPr>
              <a:t>② 4つのステータス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1143000"/>
            <a:ext cx="11379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ja-JP" sz="3400" b="1">
                <a:solidFill>
                  <a:srgbClr val="ECE7DD"/>
                </a:solidFill>
              </a:rPr>
              <a:t>命は、4本の線で管理する。</a:t>
            </a:r>
          </a:p>
        </p:txBody>
      </p:sp>
      <p:sp>
        <p:nvSpPr>
          <p:cNvPr id="212" name="r212"/>
          <p:cNvSpPr/>
          <p:nvPr/>
        </p:nvSpPr>
        <p:spPr>
          <a:xfrm>
            <a:off x="939800" y="2032000"/>
            <a:ext cx="15240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r220"/>
          <p:cNvSpPr/>
          <p:nvPr/>
        </p:nvSpPr>
        <p:spPr>
          <a:xfrm>
            <a:off x="914400" y="2540000"/>
            <a:ext cx="11379200" cy="14224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r221"/>
          <p:cNvSpPr/>
          <p:nvPr/>
        </p:nvSpPr>
        <p:spPr>
          <a:xfrm>
            <a:off x="914400" y="2540000"/>
            <a:ext cx="88900" cy="1422400"/>
          </a:xfrm>
          <a:prstGeom prst="rect">
            <a:avLst/>
          </a:prstGeom>
          <a:solidFill>
            <a:srgbClr val="6E6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t222"/>
          <p:cNvSpPr txBox="1"/>
          <p:nvPr/>
        </p:nvSpPr>
        <p:spPr>
          <a:xfrm>
            <a:off x="1371600" y="2540000"/>
            <a:ext cx="3048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2800" b="1">
                <a:solidFill>
                  <a:srgbClr val="ECE7DD"/>
                </a:solidFill>
              </a:rPr>
              <a:t>渇き</a:t>
            </a:r>
          </a:p>
          <a:p>
            <a:pPr>
              <a:spcBef>
                <a:spcPts val="200"/>
              </a:spcBef>
            </a:pPr>
            <a:r>
              <a:rPr lang="ja-JP" sz="1400" b="1" spc="200">
                <a:solidFill>
                  <a:srgbClr val="8C877B"/>
                </a:solidFill>
              </a:rPr>
              <a:t>THIRST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4470400" y="2540000"/>
            <a:ext cx="5334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1700">
                <a:solidFill>
                  <a:srgbClr val="ECE7DD"/>
                </a:solidFill>
              </a:rPr>
              <a:t>最も速く減る。水源でこまめに補給する。</a:t>
            </a:r>
          </a:p>
        </p:txBody>
      </p:sp>
      <p:sp>
        <p:nvSpPr>
          <p:cNvPr id="224" name="t224"/>
          <p:cNvSpPr txBox="1"/>
          <p:nvPr/>
        </p:nvSpPr>
        <p:spPr>
          <a:xfrm>
            <a:off x="9906000" y="2540000"/>
            <a:ext cx="2133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ja-JP" sz="2000" b="1">
                <a:solidFill>
                  <a:srgbClr val="D8D2C4"/>
                </a:solidFill>
              </a:rPr>
              <a:t>●●●●●●○○</a:t>
            </a:r>
          </a:p>
        </p:txBody>
      </p:sp>
      <p:sp>
        <p:nvSpPr>
          <p:cNvPr id="225" name="r225"/>
          <p:cNvSpPr/>
          <p:nvPr/>
        </p:nvSpPr>
        <p:spPr>
          <a:xfrm>
            <a:off x="914400" y="4140200"/>
            <a:ext cx="11379200" cy="14224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r226"/>
          <p:cNvSpPr/>
          <p:nvPr/>
        </p:nvSpPr>
        <p:spPr>
          <a:xfrm>
            <a:off x="914400" y="4140200"/>
            <a:ext cx="88900" cy="1422400"/>
          </a:xfrm>
          <a:prstGeom prst="rect">
            <a:avLst/>
          </a:prstGeom>
          <a:solidFill>
            <a:srgbClr val="6E6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t227"/>
          <p:cNvSpPr txBox="1"/>
          <p:nvPr/>
        </p:nvSpPr>
        <p:spPr>
          <a:xfrm>
            <a:off x="1371600" y="4140200"/>
            <a:ext cx="3048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2800" b="1">
                <a:solidFill>
                  <a:srgbClr val="ECE7DD"/>
                </a:solidFill>
              </a:rPr>
              <a:t>空腹</a:t>
            </a:r>
          </a:p>
          <a:p>
            <a:pPr>
              <a:spcBef>
                <a:spcPts val="200"/>
              </a:spcBef>
            </a:pPr>
            <a:r>
              <a:rPr lang="ja-JP" sz="1400" b="1" spc="200">
                <a:solidFill>
                  <a:srgbClr val="8C877B"/>
                </a:solidFill>
              </a:rPr>
              <a:t>HUNGER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4470400" y="4140200"/>
            <a:ext cx="5334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1700">
                <a:solidFill>
                  <a:srgbClr val="ECE7DD"/>
                </a:solidFill>
              </a:rPr>
              <a:t>食料で回復。ただし腐った食品は諸刃の剣。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9906000" y="4140200"/>
            <a:ext cx="2133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ja-JP" sz="2000" b="1">
                <a:solidFill>
                  <a:srgbClr val="D8D2C4"/>
                </a:solidFill>
              </a:rPr>
              <a:t>●●●●●○○○</a:t>
            </a:r>
          </a:p>
        </p:txBody>
      </p:sp>
      <p:sp>
        <p:nvSpPr>
          <p:cNvPr id="230" name="r230"/>
          <p:cNvSpPr/>
          <p:nvPr/>
        </p:nvSpPr>
        <p:spPr>
          <a:xfrm>
            <a:off x="914400" y="5740400"/>
            <a:ext cx="11379200" cy="14224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r231"/>
          <p:cNvSpPr/>
          <p:nvPr/>
        </p:nvSpPr>
        <p:spPr>
          <a:xfrm>
            <a:off x="914400" y="5740400"/>
            <a:ext cx="88900" cy="14224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t232"/>
          <p:cNvSpPr txBox="1"/>
          <p:nvPr/>
        </p:nvSpPr>
        <p:spPr>
          <a:xfrm>
            <a:off x="1371600" y="5740400"/>
            <a:ext cx="3048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2800" b="1">
                <a:solidFill>
                  <a:srgbClr val="E8A33C"/>
                </a:solidFill>
              </a:rPr>
              <a:t>SAN</a:t>
            </a:r>
          </a:p>
          <a:p>
            <a:pPr>
              <a:spcBef>
                <a:spcPts val="200"/>
              </a:spcBef>
            </a:pPr>
            <a:r>
              <a:rPr lang="ja-JP" sz="1400" b="1" spc="200">
                <a:solidFill>
                  <a:srgbClr val="8C877B"/>
                </a:solidFill>
              </a:rPr>
              <a:t>正気度・気分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4470400" y="5740400"/>
            <a:ext cx="5334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1700">
                <a:solidFill>
                  <a:srgbClr val="ECE7DD"/>
                </a:solidFill>
              </a:rPr>
              <a:t>最も回復しづらい。ゼロでも即死しない。</a:t>
            </a:r>
          </a:p>
          <a:p>
            <a:pPr>
              <a:spcBef>
                <a:spcPts val="300"/>
              </a:spcBef>
            </a:pPr>
            <a:r>
              <a:rPr lang="ja-JP" sz="1600" b="1">
                <a:solidFill>
                  <a:srgbClr val="E8A33C"/>
                </a:solidFill>
              </a:rPr>
              <a:t>＝ この街を読み解く“解像度”。くわしくは次ページ →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9906000" y="5740400"/>
            <a:ext cx="2133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ja-JP" sz="2000" b="1">
                <a:solidFill>
                  <a:srgbClr val="E8A33C"/>
                </a:solidFill>
              </a:rPr>
              <a:t>●●●●●●●○○○</a:t>
            </a:r>
          </a:p>
        </p:txBody>
      </p:sp>
      <p:sp>
        <p:nvSpPr>
          <p:cNvPr id="235" name="r235"/>
          <p:cNvSpPr/>
          <p:nvPr/>
        </p:nvSpPr>
        <p:spPr>
          <a:xfrm>
            <a:off x="914400" y="7340600"/>
            <a:ext cx="11379200" cy="14224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r236"/>
          <p:cNvSpPr/>
          <p:nvPr/>
        </p:nvSpPr>
        <p:spPr>
          <a:xfrm>
            <a:off x="914400" y="7340600"/>
            <a:ext cx="88900" cy="1422400"/>
          </a:xfrm>
          <a:prstGeom prst="rect">
            <a:avLst/>
          </a:prstGeom>
          <a:solidFill>
            <a:srgbClr val="6E6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t237"/>
          <p:cNvSpPr txBox="1"/>
          <p:nvPr/>
        </p:nvSpPr>
        <p:spPr>
          <a:xfrm>
            <a:off x="1371600" y="7340600"/>
            <a:ext cx="3048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2800" b="1">
                <a:solidFill>
                  <a:srgbClr val="ECE7DD"/>
                </a:solidFill>
              </a:rPr>
              <a:t>HP</a:t>
            </a:r>
          </a:p>
          <a:p>
            <a:pPr>
              <a:spcBef>
                <a:spcPts val="200"/>
              </a:spcBef>
            </a:pPr>
            <a:r>
              <a:rPr lang="ja-JP" sz="1400" b="1" spc="200">
                <a:solidFill>
                  <a:srgbClr val="8C877B"/>
                </a:solidFill>
              </a:rPr>
              <a:t>体力</a:t>
            </a:r>
          </a:p>
        </p:txBody>
      </p:sp>
      <p:sp>
        <p:nvSpPr>
          <p:cNvPr id="238" name="t238"/>
          <p:cNvSpPr txBox="1"/>
          <p:nvPr/>
        </p:nvSpPr>
        <p:spPr>
          <a:xfrm>
            <a:off x="4470400" y="7340600"/>
            <a:ext cx="5334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ja-JP" sz="1700">
                <a:solidFill>
                  <a:srgbClr val="ECE7DD"/>
                </a:solidFill>
              </a:rPr>
              <a:t>ゼロになると病院送り＝所持品ペナルティ。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9906000" y="7340600"/>
            <a:ext cx="2133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ja-JP" sz="2000" b="1">
                <a:solidFill>
                  <a:srgbClr val="D8D2C4"/>
                </a:solidFill>
              </a:rPr>
              <a:t>●●●●●●○○</a:t>
            </a:r>
          </a:p>
        </p:txBody>
      </p:sp>
    </p:spTree>
    <p:extLst>
      <p:ext uri="{BB962C8B-B14F-4D97-AF65-F5344CB8AC3E}">
        <p14:creationId xmlns:p14="http://schemas.microsoft.com/office/powerpoint/2010/main" val="16578624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90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914400" y="6858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1" spc="300">
                <a:solidFill>
                  <a:srgbClr val="E8A33C"/>
                </a:solidFill>
              </a:rPr>
              <a:t>③ いちばんの仕掛け ─ SAN（正気度）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1092200"/>
            <a:ext cx="11379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600" b="1">
                <a:solidFill>
                  <a:srgbClr val="ECE7DD"/>
                </a:solidFill>
              </a:rPr>
              <a:t>SAN＝都市を</a:t>
            </a:r>
            <a:r>
              <a:rPr lang="ja-JP" sz="3600" b="1">
                <a:solidFill>
                  <a:srgbClr val="E8A33C"/>
                </a:solidFill>
              </a:rPr>
              <a:t>読む力</a:t>
            </a:r>
            <a:r>
              <a:rPr lang="ja-JP" sz="3600" b="1">
                <a:solidFill>
                  <a:srgbClr val="ECE7DD"/>
                </a:solidFill>
              </a:rPr>
              <a:t>。</a:t>
            </a:r>
          </a:p>
        </p:txBody>
      </p:sp>
      <p:sp>
        <p:nvSpPr>
          <p:cNvPr id="212" name="r212"/>
          <p:cNvSpPr/>
          <p:nvPr/>
        </p:nvSpPr>
        <p:spPr>
          <a:xfrm>
            <a:off x="939800" y="1930400"/>
            <a:ext cx="15240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3"/>
          <p:cNvSpPr txBox="1"/>
          <p:nvPr/>
        </p:nvSpPr>
        <p:spPr>
          <a:xfrm>
            <a:off x="914400" y="2133600"/>
            <a:ext cx="11379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>
                <a:solidFill>
                  <a:srgbClr val="B8B3A8"/>
                </a:solidFill>
              </a:rPr>
              <a:t>3本目の体力ではない。減るほど、街が読めなくなる。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914400" y="27178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300" b="1">
                <a:solidFill>
                  <a:srgbClr val="8C877B"/>
                </a:solidFill>
              </a:rPr>
              <a:t>画面の色 / SAN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3098800" y="27178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300" b="1">
                <a:solidFill>
                  <a:srgbClr val="8C877B"/>
                </a:solidFill>
              </a:rPr>
              <a:t>状態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5740400" y="2717800"/>
            <a:ext cx="655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300" b="1">
                <a:solidFill>
                  <a:srgbClr val="8C877B"/>
                </a:solidFill>
              </a:rPr>
              <a:t>見えるもの・情報</a:t>
            </a:r>
          </a:p>
        </p:txBody>
      </p:sp>
      <p:sp>
        <p:nvSpPr>
          <p:cNvPr id="220" name="r220"/>
          <p:cNvSpPr/>
          <p:nvPr/>
        </p:nvSpPr>
        <p:spPr>
          <a:xfrm>
            <a:off x="914400" y="2997200"/>
            <a:ext cx="2032000" cy="965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221"/>
          <p:cNvSpPr txBox="1"/>
          <p:nvPr/>
        </p:nvSpPr>
        <p:spPr>
          <a:xfrm>
            <a:off x="914400" y="2997200"/>
            <a:ext cx="203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400" b="1">
                <a:solidFill>
                  <a:srgbClr val="1C1813"/>
                </a:solidFill>
              </a:rPr>
              <a:t>70+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3098800" y="2997200"/>
            <a:ext cx="2413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200" b="1">
                <a:solidFill>
                  <a:srgbClr val="E8A33C"/>
                </a:solidFill>
              </a:rPr>
              <a:t>上機嫌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5740400" y="2997200"/>
            <a:ext cx="6553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700" dirty="0">
                <a:solidFill>
                  <a:srgbClr val="ECE7DD"/>
                </a:solidFill>
              </a:rPr>
              <a:t>NPCが話しかけ、噂が届く。コツが最大精度で働く</a:t>
            </a:r>
          </a:p>
        </p:txBody>
      </p:sp>
      <p:sp>
        <p:nvSpPr>
          <p:cNvPr id="224" name="r224"/>
          <p:cNvSpPr/>
          <p:nvPr/>
        </p:nvSpPr>
        <p:spPr>
          <a:xfrm>
            <a:off x="914400" y="4038600"/>
            <a:ext cx="2032000" cy="965200"/>
          </a:xfrm>
          <a:prstGeom prst="rect">
            <a:avLst/>
          </a:prstGeom>
          <a:solidFill>
            <a:srgbClr val="B08A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225"/>
          <p:cNvSpPr txBox="1"/>
          <p:nvPr/>
        </p:nvSpPr>
        <p:spPr>
          <a:xfrm>
            <a:off x="914400" y="4038600"/>
            <a:ext cx="203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400" b="1">
                <a:solidFill>
                  <a:srgbClr val="1C1813"/>
                </a:solidFill>
              </a:rPr>
              <a:t>50–69</a:t>
            </a:r>
          </a:p>
        </p:txBody>
      </p:sp>
      <p:sp>
        <p:nvSpPr>
          <p:cNvPr id="226" name="t226"/>
          <p:cNvSpPr txBox="1"/>
          <p:nvPr/>
        </p:nvSpPr>
        <p:spPr>
          <a:xfrm>
            <a:off x="3098800" y="4038600"/>
            <a:ext cx="2413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200" b="1">
                <a:solidFill>
                  <a:srgbClr val="ECE7DD"/>
                </a:solidFill>
              </a:rPr>
              <a:t>通常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5740400" y="4038600"/>
            <a:ext cx="6553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700">
                <a:solidFill>
                  <a:srgbClr val="ECE7DD"/>
                </a:solidFill>
              </a:rPr>
              <a:t>食品の状態が正確に分かる</a:t>
            </a:r>
          </a:p>
        </p:txBody>
      </p:sp>
      <p:sp>
        <p:nvSpPr>
          <p:cNvPr id="228" name="r228"/>
          <p:cNvSpPr/>
          <p:nvPr/>
        </p:nvSpPr>
        <p:spPr>
          <a:xfrm>
            <a:off x="914400" y="5080000"/>
            <a:ext cx="2032000" cy="965200"/>
          </a:xfrm>
          <a:prstGeom prst="rect">
            <a:avLst/>
          </a:prstGeom>
          <a:solidFill>
            <a:srgbClr val="6E6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t229"/>
          <p:cNvSpPr txBox="1"/>
          <p:nvPr/>
        </p:nvSpPr>
        <p:spPr>
          <a:xfrm>
            <a:off x="914400" y="5080000"/>
            <a:ext cx="203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400" b="1">
                <a:solidFill>
                  <a:srgbClr val="ECE7DD"/>
                </a:solidFill>
              </a:rPr>
              <a:t>20–49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3098800" y="5080000"/>
            <a:ext cx="2413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200" b="1">
                <a:solidFill>
                  <a:srgbClr val="ECE7DD"/>
                </a:solidFill>
              </a:rPr>
              <a:t>色が褪せる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5740400" y="5080000"/>
            <a:ext cx="6553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700">
                <a:solidFill>
                  <a:srgbClr val="ECE7DD"/>
                </a:solidFill>
              </a:rPr>
              <a:t>傷みと腐敗の区別がつかなくなる</a:t>
            </a:r>
          </a:p>
        </p:txBody>
      </p:sp>
      <p:sp>
        <p:nvSpPr>
          <p:cNvPr id="232" name="r232"/>
          <p:cNvSpPr/>
          <p:nvPr/>
        </p:nvSpPr>
        <p:spPr>
          <a:xfrm>
            <a:off x="914400" y="6121400"/>
            <a:ext cx="2032000" cy="965200"/>
          </a:xfrm>
          <a:prstGeom prst="rect">
            <a:avLst/>
          </a:prstGeom>
          <a:solidFill>
            <a:srgbClr val="3633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t233"/>
          <p:cNvSpPr txBox="1"/>
          <p:nvPr/>
        </p:nvSpPr>
        <p:spPr>
          <a:xfrm>
            <a:off x="914400" y="6121400"/>
            <a:ext cx="203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ja-JP" sz="2400" b="1">
                <a:solidFill>
                  <a:srgbClr val="ECE7DD"/>
                </a:solidFill>
              </a:rPr>
              <a:t>＜20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3098800" y="6121400"/>
            <a:ext cx="2413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200" b="1">
                <a:solidFill>
                  <a:srgbClr val="B4462E"/>
                </a:solidFill>
              </a:rPr>
              <a:t>精神崩壊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5740400" y="6121400"/>
            <a:ext cx="6553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700">
                <a:solidFill>
                  <a:srgbClr val="ECE7DD"/>
                </a:solidFill>
              </a:rPr>
              <a:t>?? ／ 会話が封鎖 ／ バイト効率が暴落</a:t>
            </a:r>
          </a:p>
        </p:txBody>
      </p:sp>
      <p:sp>
        <p:nvSpPr>
          <p:cNvPr id="260" name="r260"/>
          <p:cNvSpPr/>
          <p:nvPr/>
        </p:nvSpPr>
        <p:spPr>
          <a:xfrm>
            <a:off x="914400" y="7442200"/>
            <a:ext cx="11379200" cy="14732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1" name="r261"/>
          <p:cNvSpPr/>
          <p:nvPr/>
        </p:nvSpPr>
        <p:spPr>
          <a:xfrm>
            <a:off x="914400" y="7442200"/>
            <a:ext cx="88900" cy="1473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2" name="t262"/>
          <p:cNvSpPr txBox="1"/>
          <p:nvPr/>
        </p:nvSpPr>
        <p:spPr>
          <a:xfrm>
            <a:off x="1320800" y="7442200"/>
            <a:ext cx="105664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500" b="1">
                <a:solidFill>
                  <a:srgbClr val="E8A33C"/>
                </a:solidFill>
              </a:rPr>
              <a:t>「人は先に飢えて死ぬのではない。先に、返事をしなくなる。」</a:t>
            </a:r>
          </a:p>
          <a:p>
            <a:pPr algn="l">
              <a:spcBef>
                <a:spcPts val="400"/>
              </a:spcBef>
            </a:pPr>
            <a:r>
              <a:rPr lang="ja-JP" sz="1500">
                <a:solidFill>
                  <a:srgbClr val="D4CFC3"/>
                </a:solidFill>
              </a:rPr>
              <a:t>── 飢えより先に社会性を奪う。それを数値ではなくシステムで語る。</a:t>
            </a:r>
          </a:p>
        </p:txBody>
      </p:sp>
    </p:spTree>
    <p:extLst>
      <p:ext uri="{BB962C8B-B14F-4D97-AF65-F5344CB8AC3E}">
        <p14:creationId xmlns:p14="http://schemas.microsoft.com/office/powerpoint/2010/main" val="367454876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90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914400" y="6858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1" spc="300">
                <a:solidFill>
                  <a:srgbClr val="E8A33C"/>
                </a:solidFill>
              </a:rPr>
              <a:t>③ もう2つの仕掛け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1092200"/>
            <a:ext cx="11379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600" b="1">
                <a:solidFill>
                  <a:srgbClr val="ECE7DD"/>
                </a:solidFill>
              </a:rPr>
              <a:t>皮肉と、誠実さ。</a:t>
            </a:r>
          </a:p>
        </p:txBody>
      </p:sp>
      <p:sp>
        <p:nvSpPr>
          <p:cNvPr id="212" name="r212"/>
          <p:cNvSpPr/>
          <p:nvPr/>
        </p:nvSpPr>
        <p:spPr>
          <a:xfrm>
            <a:off x="939800" y="1930400"/>
            <a:ext cx="15240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3"/>
          <p:cNvSpPr txBox="1"/>
          <p:nvPr/>
        </p:nvSpPr>
        <p:spPr>
          <a:xfrm>
            <a:off x="914400" y="2133600"/>
            <a:ext cx="11379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>
                <a:solidFill>
                  <a:srgbClr val="B8B3A8"/>
                </a:solidFill>
              </a:rPr>
              <a:t>都合の悪い設計を、あえて選ぶ。それがこのゲームの語り口。</a:t>
            </a:r>
          </a:p>
        </p:txBody>
      </p:sp>
      <p:sp>
        <p:nvSpPr>
          <p:cNvPr id="220" name="r220"/>
          <p:cNvSpPr/>
          <p:nvPr/>
        </p:nvSpPr>
        <p:spPr>
          <a:xfrm>
            <a:off x="914400" y="2717800"/>
            <a:ext cx="5486400" cy="41910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r221"/>
          <p:cNvSpPr/>
          <p:nvPr/>
        </p:nvSpPr>
        <p:spPr>
          <a:xfrm>
            <a:off x="914400" y="2717800"/>
            <a:ext cx="54864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t222"/>
          <p:cNvSpPr txBox="1"/>
          <p:nvPr/>
        </p:nvSpPr>
        <p:spPr>
          <a:xfrm>
            <a:off x="1295400" y="3022600"/>
            <a:ext cx="4724400" cy="36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600" b="1" dirty="0">
                <a:solidFill>
                  <a:srgbClr val="E8A33C"/>
                </a:solidFill>
              </a:rPr>
              <a:t>①</a:t>
            </a:r>
          </a:p>
          <a:p>
            <a:pPr algn="l">
              <a:spcBef>
                <a:spcPts val="300"/>
              </a:spcBef>
            </a:pPr>
            <a:r>
              <a:rPr lang="ja-JP" sz="2400" b="1" dirty="0">
                <a:solidFill>
                  <a:srgbClr val="ECE7DD"/>
                </a:solidFill>
              </a:rPr>
              <a:t>バイトの皮肉</a:t>
            </a:r>
          </a:p>
          <a:p>
            <a:pPr algn="l">
              <a:spcBef>
                <a:spcPts val="100"/>
              </a:spcBef>
            </a:pPr>
            <a:endParaRPr lang="en-US" altLang="ja-JP" sz="1600" b="1" dirty="0">
              <a:solidFill>
                <a:srgbClr val="E8A33C"/>
              </a:solidFill>
            </a:endParaRPr>
          </a:p>
          <a:p>
            <a:pPr algn="l">
              <a:spcBef>
                <a:spcPts val="100"/>
              </a:spcBef>
            </a:pPr>
            <a:r>
              <a:rPr lang="ja-JP" sz="1600" b="1" dirty="0">
                <a:solidFill>
                  <a:srgbClr val="E8A33C"/>
                </a:solidFill>
              </a:rPr>
              <a:t>いちばん割に合わない仕事</a:t>
            </a:r>
          </a:p>
          <a:p>
            <a:pPr algn="l">
              <a:spcBef>
                <a:spcPts val="600"/>
              </a:spcBef>
            </a:pPr>
            <a:endParaRPr lang="en-US" altLang="ja-JP" sz="1600" b="1" dirty="0">
              <a:solidFill>
                <a:srgbClr val="E8A33C"/>
              </a:solidFill>
            </a:endParaRPr>
          </a:p>
          <a:p>
            <a:pPr algn="l">
              <a:spcBef>
                <a:spcPts val="600"/>
              </a:spcBef>
            </a:pPr>
            <a:r>
              <a:rPr lang="ja-JP" sz="1600" b="1" dirty="0">
                <a:solidFill>
                  <a:srgbClr val="E8A33C"/>
                </a:solidFill>
              </a:rPr>
              <a:t>─  </a:t>
            </a:r>
            <a:r>
              <a:rPr lang="ja-JP" sz="1600" dirty="0">
                <a:solidFill>
                  <a:srgbClr val="ECE7DD"/>
                </a:solidFill>
              </a:rPr>
              <a:t>安定した収入。</a:t>
            </a:r>
            <a:br>
              <a:rPr lang="en-US" altLang="ja-JP" sz="1600" dirty="0">
                <a:solidFill>
                  <a:srgbClr val="ECE7DD"/>
                </a:solidFill>
              </a:rPr>
            </a:br>
            <a:r>
              <a:rPr lang="en-US" altLang="ja-JP" sz="1600" dirty="0">
                <a:solidFill>
                  <a:srgbClr val="ECE7DD"/>
                </a:solidFill>
              </a:rPr>
              <a:t>    </a:t>
            </a:r>
            <a:r>
              <a:rPr lang="ja-JP" sz="1600" dirty="0">
                <a:solidFill>
                  <a:srgbClr val="ECE7DD"/>
                </a:solidFill>
              </a:rPr>
              <a:t>しかし、最も回復しづらい SAN を大きく削る。</a:t>
            </a:r>
          </a:p>
          <a:p>
            <a:pPr algn="l">
              <a:spcBef>
                <a:spcPts val="600"/>
              </a:spcBef>
            </a:pPr>
            <a:r>
              <a:rPr lang="ja-JP" sz="1600" b="1" dirty="0">
                <a:solidFill>
                  <a:srgbClr val="E8A33C"/>
                </a:solidFill>
              </a:rPr>
              <a:t>─  </a:t>
            </a:r>
            <a:r>
              <a:rPr lang="ja-JP" sz="1600" dirty="0">
                <a:solidFill>
                  <a:srgbClr val="ECE7DD"/>
                </a:solidFill>
              </a:rPr>
              <a:t>「自由に漁るか、気分を犠牲に稼ぐか」</a:t>
            </a:r>
            <a:br>
              <a:rPr lang="en-US" altLang="ja-JP" sz="1600" dirty="0">
                <a:solidFill>
                  <a:srgbClr val="ECE7DD"/>
                </a:solidFill>
              </a:rPr>
            </a:br>
            <a:r>
              <a:rPr lang="en-US" altLang="ja-JP" sz="1600" dirty="0">
                <a:solidFill>
                  <a:srgbClr val="ECE7DD"/>
                </a:solidFill>
              </a:rPr>
              <a:t>    </a:t>
            </a:r>
            <a:r>
              <a:rPr lang="ja-JP" sz="1600" dirty="0">
                <a:solidFill>
                  <a:srgbClr val="ECE7DD"/>
                </a:solidFill>
              </a:rPr>
              <a:t>──テーマそのものの選択。</a:t>
            </a:r>
          </a:p>
        </p:txBody>
      </p:sp>
      <p:sp>
        <p:nvSpPr>
          <p:cNvPr id="223" name="r223"/>
          <p:cNvSpPr/>
          <p:nvPr/>
        </p:nvSpPr>
        <p:spPr>
          <a:xfrm>
            <a:off x="6604000" y="2717800"/>
            <a:ext cx="5486400" cy="41910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r224"/>
          <p:cNvSpPr/>
          <p:nvPr/>
        </p:nvSpPr>
        <p:spPr>
          <a:xfrm>
            <a:off x="6604000" y="2717800"/>
            <a:ext cx="54864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t225"/>
          <p:cNvSpPr txBox="1"/>
          <p:nvPr/>
        </p:nvSpPr>
        <p:spPr>
          <a:xfrm>
            <a:off x="6985000" y="3022600"/>
            <a:ext cx="4724400" cy="36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600" b="1" dirty="0">
                <a:solidFill>
                  <a:srgbClr val="E8A33C"/>
                </a:solidFill>
              </a:rPr>
              <a:t>②</a:t>
            </a:r>
          </a:p>
          <a:p>
            <a:pPr algn="l">
              <a:spcBef>
                <a:spcPts val="300"/>
              </a:spcBef>
            </a:pPr>
            <a:r>
              <a:rPr lang="ja-JP" sz="2400" b="1" dirty="0">
                <a:solidFill>
                  <a:srgbClr val="ECE7DD"/>
                </a:solidFill>
              </a:rPr>
              <a:t>嘘はつかない</a:t>
            </a:r>
          </a:p>
          <a:p>
            <a:pPr algn="l">
              <a:spcBef>
                <a:spcPts val="100"/>
              </a:spcBef>
            </a:pPr>
            <a:endParaRPr lang="en-US" altLang="ja-JP" sz="1600" b="1" dirty="0">
              <a:solidFill>
                <a:srgbClr val="E8A33C"/>
              </a:solidFill>
            </a:endParaRPr>
          </a:p>
          <a:p>
            <a:pPr algn="l">
              <a:spcBef>
                <a:spcPts val="100"/>
              </a:spcBef>
            </a:pPr>
            <a:r>
              <a:rPr lang="ja-JP" sz="1600" b="1" dirty="0">
                <a:solidFill>
                  <a:srgbClr val="E8A33C"/>
                </a:solidFill>
              </a:rPr>
              <a:t>隠すが、欺かない</a:t>
            </a:r>
          </a:p>
          <a:p>
            <a:pPr algn="l">
              <a:spcBef>
                <a:spcPts val="600"/>
              </a:spcBef>
            </a:pPr>
            <a:endParaRPr lang="en-US" altLang="ja-JP" sz="1600" b="1" dirty="0">
              <a:solidFill>
                <a:srgbClr val="E8A33C"/>
              </a:solidFill>
            </a:endParaRPr>
          </a:p>
          <a:p>
            <a:pPr algn="l">
              <a:spcBef>
                <a:spcPts val="600"/>
              </a:spcBef>
            </a:pPr>
            <a:r>
              <a:rPr lang="ja-JP" sz="1600" b="1" dirty="0">
                <a:solidFill>
                  <a:srgbClr val="E8A33C"/>
                </a:solidFill>
              </a:rPr>
              <a:t>─  </a:t>
            </a:r>
            <a:r>
              <a:rPr lang="ja-JP" sz="1600" dirty="0">
                <a:solidFill>
                  <a:srgbClr val="ECE7DD"/>
                </a:solidFill>
              </a:rPr>
              <a:t>誤った数値は見せない。</a:t>
            </a:r>
            <a:br>
              <a:rPr lang="en-US" altLang="ja-JP" sz="1600" dirty="0">
                <a:solidFill>
                  <a:srgbClr val="ECE7DD"/>
                </a:solidFill>
              </a:rPr>
            </a:br>
            <a:r>
              <a:rPr lang="en-US" altLang="ja-JP" sz="1600" dirty="0">
                <a:solidFill>
                  <a:srgbClr val="ECE7DD"/>
                </a:solidFill>
              </a:rPr>
              <a:t>    </a:t>
            </a:r>
            <a:r>
              <a:rPr lang="ja-JP" sz="1600" dirty="0">
                <a:solidFill>
                  <a:srgbClr val="ECE7DD"/>
                </a:solidFill>
              </a:rPr>
              <a:t>分からないことは “??” で示す。</a:t>
            </a:r>
          </a:p>
          <a:p>
            <a:pPr algn="l">
              <a:spcBef>
                <a:spcPts val="600"/>
              </a:spcBef>
            </a:pPr>
            <a:r>
              <a:rPr lang="ja-JP" sz="1600" b="1" dirty="0">
                <a:solidFill>
                  <a:srgbClr val="E8A33C"/>
                </a:solidFill>
              </a:rPr>
              <a:t>─  </a:t>
            </a:r>
            <a:r>
              <a:rPr lang="ja-JP" sz="1600" dirty="0">
                <a:solidFill>
                  <a:srgbClr val="ECE7DD"/>
                </a:solidFill>
              </a:rPr>
              <a:t>変化は貼り紙や先輩の小言が必ず予告する。</a:t>
            </a:r>
          </a:p>
          <a:p>
            <a:pPr algn="l">
              <a:spcBef>
                <a:spcPts val="600"/>
              </a:spcBef>
            </a:pPr>
            <a:r>
              <a:rPr lang="ja-JP" sz="1600" b="1" dirty="0">
                <a:solidFill>
                  <a:srgbClr val="E8A33C"/>
                </a:solidFill>
              </a:rPr>
              <a:t>─  </a:t>
            </a:r>
            <a:r>
              <a:rPr lang="ja-JP" altLang="en-US" sz="1600" dirty="0">
                <a:solidFill>
                  <a:srgbClr val="ECE7DD"/>
                </a:solidFill>
              </a:rPr>
              <a:t>理不尽ではなく、“読み解ける”緊張へ。</a:t>
            </a:r>
            <a:endParaRPr lang="ja-JP" sz="1600" dirty="0">
              <a:solidFill>
                <a:srgbClr val="ECE7DD"/>
              </a:solidFill>
            </a:endParaRPr>
          </a:p>
        </p:txBody>
      </p:sp>
      <p:sp>
        <p:nvSpPr>
          <p:cNvPr id="280" name="r280"/>
          <p:cNvSpPr/>
          <p:nvPr/>
        </p:nvSpPr>
        <p:spPr>
          <a:xfrm>
            <a:off x="914400" y="7112000"/>
            <a:ext cx="11379200" cy="1803400"/>
          </a:xfrm>
          <a:prstGeom prst="roundRect">
            <a:avLst/>
          </a:prstGeom>
          <a:solidFill>
            <a:srgbClr val="221F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1" name="r281"/>
          <p:cNvSpPr/>
          <p:nvPr/>
        </p:nvSpPr>
        <p:spPr>
          <a:xfrm>
            <a:off x="914400" y="7112000"/>
            <a:ext cx="88900" cy="18034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2" name="t282"/>
          <p:cNvSpPr txBox="1"/>
          <p:nvPr/>
        </p:nvSpPr>
        <p:spPr>
          <a:xfrm>
            <a:off x="1320800" y="7112000"/>
            <a:ext cx="105664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800" b="1">
                <a:solidFill>
                  <a:srgbClr val="E8A33C"/>
                </a:solidFill>
              </a:rPr>
              <a:t>同じ段ボールが、三役を兼ねる。</a:t>
            </a:r>
          </a:p>
          <a:p>
            <a:pPr algn="l">
              <a:spcBef>
                <a:spcPts val="300"/>
              </a:spcBef>
            </a:pPr>
            <a:r>
              <a:rPr lang="ja-JP" sz="2400" b="1">
                <a:solidFill>
                  <a:srgbClr val="ECE7DD"/>
                </a:solidFill>
              </a:rPr>
              <a:t>売る　／　敷いて寝る　／　財産を隠す</a:t>
            </a:r>
          </a:p>
          <a:p>
            <a:pPr algn="l">
              <a:spcBef>
                <a:spcPts val="300"/>
              </a:spcBef>
            </a:pPr>
            <a:r>
              <a:rPr lang="ja-JP" sz="1500">
                <a:solidFill>
                  <a:srgbClr val="B8B3A8"/>
                </a:solidFill>
              </a:rPr>
              <a:t>尊厳を代償に生き延びる皮肉を、道具ひとつに込める。</a:t>
            </a:r>
          </a:p>
        </p:txBody>
      </p:sp>
    </p:spTree>
    <p:extLst>
      <p:ext uri="{BB962C8B-B14F-4D97-AF65-F5344CB8AC3E}">
        <p14:creationId xmlns:p14="http://schemas.microsoft.com/office/powerpoint/2010/main" val="5653724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90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914400" y="6858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1" spc="300">
                <a:solidFill>
                  <a:srgbClr val="E8A33C"/>
                </a:solidFill>
              </a:rPr>
              <a:t>④ 誰のためのゲーム？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1092200"/>
            <a:ext cx="11379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600" b="1">
                <a:solidFill>
                  <a:srgbClr val="ECE7DD"/>
                </a:solidFill>
              </a:rPr>
              <a:t>こういう人に、刺さる。</a:t>
            </a:r>
          </a:p>
        </p:txBody>
      </p:sp>
      <p:sp>
        <p:nvSpPr>
          <p:cNvPr id="212" name="r212"/>
          <p:cNvSpPr/>
          <p:nvPr/>
        </p:nvSpPr>
        <p:spPr>
          <a:xfrm>
            <a:off x="939800" y="1930400"/>
            <a:ext cx="15240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3"/>
          <p:cNvSpPr txBox="1"/>
          <p:nvPr/>
        </p:nvSpPr>
        <p:spPr>
          <a:xfrm>
            <a:off x="914400" y="2133600"/>
            <a:ext cx="11379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>
                <a:solidFill>
                  <a:srgbClr val="B8B3A8"/>
                </a:solidFill>
              </a:rPr>
              <a:t>派手さではなく、“判断”そのものを楽しむプレイヤーへ。</a:t>
            </a:r>
          </a:p>
        </p:txBody>
      </p:sp>
      <p:sp>
        <p:nvSpPr>
          <p:cNvPr id="220" name="r220"/>
          <p:cNvSpPr/>
          <p:nvPr/>
        </p:nvSpPr>
        <p:spPr>
          <a:xfrm>
            <a:off x="914400" y="2717800"/>
            <a:ext cx="5486400" cy="24892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r221"/>
          <p:cNvSpPr/>
          <p:nvPr/>
        </p:nvSpPr>
        <p:spPr>
          <a:xfrm>
            <a:off x="914400" y="2717800"/>
            <a:ext cx="54864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t222"/>
          <p:cNvSpPr txBox="1"/>
          <p:nvPr/>
        </p:nvSpPr>
        <p:spPr>
          <a:xfrm>
            <a:off x="2082800" y="30988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100" b="1">
                <a:solidFill>
                  <a:srgbClr val="ECE7DD"/>
                </a:solidFill>
              </a:rPr>
              <a:t>生存・資源管理が好き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1295400" y="3937000"/>
            <a:ext cx="4724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>
                <a:solidFill>
                  <a:srgbClr val="B8B3A8"/>
                </a:solidFill>
              </a:rPr>
              <a:t>ゴミ漁り、持ち物のやりくり、リスク判断を“手応え”として楽しめる人。</a:t>
            </a:r>
          </a:p>
        </p:txBody>
      </p:sp>
      <p:sp>
        <p:nvSpPr>
          <p:cNvPr id="224" name="r224"/>
          <p:cNvSpPr/>
          <p:nvPr/>
        </p:nvSpPr>
        <p:spPr>
          <a:xfrm>
            <a:off x="6604000" y="2717800"/>
            <a:ext cx="5486400" cy="24892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r225"/>
          <p:cNvSpPr/>
          <p:nvPr/>
        </p:nvSpPr>
        <p:spPr>
          <a:xfrm>
            <a:off x="6604000" y="2717800"/>
            <a:ext cx="54864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t226"/>
          <p:cNvSpPr txBox="1"/>
          <p:nvPr/>
        </p:nvSpPr>
        <p:spPr>
          <a:xfrm>
            <a:off x="7772400" y="30988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100" b="1">
                <a:solidFill>
                  <a:srgbClr val="ECE7DD"/>
                </a:solidFill>
              </a:rPr>
              <a:t>皮肉と社会風刺が好き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6985000" y="3937000"/>
            <a:ext cx="4724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>
                <a:solidFill>
                  <a:srgbClr val="B8B3A8"/>
                </a:solidFill>
              </a:rPr>
              <a:t>ブラックユーモアのある物語を、断罪でも同情でもなく味わいたい人。</a:t>
            </a:r>
          </a:p>
        </p:txBody>
      </p:sp>
      <p:sp>
        <p:nvSpPr>
          <p:cNvPr id="228" name="r228"/>
          <p:cNvSpPr/>
          <p:nvPr/>
        </p:nvSpPr>
        <p:spPr>
          <a:xfrm>
            <a:off x="914400" y="5461000"/>
            <a:ext cx="5486400" cy="24892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r229"/>
          <p:cNvSpPr/>
          <p:nvPr/>
        </p:nvSpPr>
        <p:spPr>
          <a:xfrm>
            <a:off x="914400" y="5461000"/>
            <a:ext cx="54864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t230"/>
          <p:cNvSpPr txBox="1"/>
          <p:nvPr/>
        </p:nvSpPr>
        <p:spPr>
          <a:xfrm>
            <a:off x="2082800" y="58420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100" b="1">
                <a:solidFill>
                  <a:srgbClr val="ECE7DD"/>
                </a:solidFill>
              </a:rPr>
              <a:t>静かな成長が好き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1295400" y="6680200"/>
            <a:ext cx="4724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>
                <a:solidFill>
                  <a:srgbClr val="B8B3A8"/>
                </a:solidFill>
              </a:rPr>
              <a:t>戦闘やレベルアップではなく、“街の勝手を覚えていく”手触りを好む人。</a:t>
            </a:r>
          </a:p>
        </p:txBody>
      </p:sp>
      <p:sp>
        <p:nvSpPr>
          <p:cNvPr id="232" name="r232"/>
          <p:cNvSpPr/>
          <p:nvPr/>
        </p:nvSpPr>
        <p:spPr>
          <a:xfrm>
            <a:off x="6604000" y="5461000"/>
            <a:ext cx="5486400" cy="24892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r233"/>
          <p:cNvSpPr/>
          <p:nvPr/>
        </p:nvSpPr>
        <p:spPr>
          <a:xfrm>
            <a:off x="6604000" y="5461000"/>
            <a:ext cx="5486400" cy="762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t234"/>
          <p:cNvSpPr txBox="1"/>
          <p:nvPr/>
        </p:nvSpPr>
        <p:spPr>
          <a:xfrm>
            <a:off x="7772400" y="58420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100" b="1">
                <a:solidFill>
                  <a:srgbClr val="ECE7DD"/>
                </a:solidFill>
              </a:rPr>
              <a:t>短く濃い体験が欲しい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6985000" y="6680200"/>
            <a:ext cx="4724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>
                <a:solidFill>
                  <a:srgbClr val="B8B3A8"/>
                </a:solidFill>
              </a:rPr>
              <a:t>1周 約20〜30分で、密度の高い体験を求めるインディーゲーム層。</a:t>
            </a:r>
          </a:p>
        </p:txBody>
      </p:sp>
      <p:sp>
        <p:nvSpPr>
          <p:cNvPr id="280" name="t280"/>
          <p:cNvSpPr txBox="1"/>
          <p:nvPr/>
        </p:nvSpPr>
        <p:spPr>
          <a:xfrm>
            <a:off x="914400" y="82042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>
                <a:solidFill>
                  <a:srgbClr val="B8B3A8"/>
                </a:solidFill>
              </a:rPr>
              <a:t>共通するのは、</a:t>
            </a:r>
            <a:r>
              <a:rPr lang="ja-JP" sz="1600" b="1">
                <a:solidFill>
                  <a:srgbClr val="E8A33C"/>
                </a:solidFill>
              </a:rPr>
              <a:t>“正解のない毎日の判断”を面白がれること。</a:t>
            </a:r>
          </a:p>
        </p:txBody>
      </p:sp>
      <p:pic>
        <p:nvPicPr>
          <p:cNvPr id="281" name="Graphic 281" descr="生存・資源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3073400"/>
            <a:ext cx="584200" cy="584200"/>
          </a:xfrm>
          <a:prstGeom prst="rect">
            <a:avLst/>
          </a:prstGeom>
        </p:spPr>
      </p:pic>
      <p:pic>
        <p:nvPicPr>
          <p:cNvPr id="282" name="Graphic 282" descr="皮肉と社会風刺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9600" y="3073400"/>
            <a:ext cx="584200" cy="584200"/>
          </a:xfrm>
          <a:prstGeom prst="rect">
            <a:avLst/>
          </a:prstGeom>
        </p:spPr>
      </p:pic>
      <p:pic>
        <p:nvPicPr>
          <p:cNvPr id="283" name="Graphic 283" descr="静かな成長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0000" y="5816600"/>
            <a:ext cx="584200" cy="584200"/>
          </a:xfrm>
          <a:prstGeom prst="rect">
            <a:avLst/>
          </a:prstGeom>
        </p:spPr>
      </p:pic>
      <p:pic>
        <p:nvPicPr>
          <p:cNvPr id="284" name="Graphic 284" descr="短く濃い体験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59600" y="58166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840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90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914400" y="685800"/>
            <a:ext cx="11379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1" spc="300" dirty="0">
                <a:solidFill>
                  <a:srgbClr val="E8A33C"/>
                </a:solidFill>
              </a:rPr>
              <a:t>⑤ 世の中はどうなる？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1092200"/>
            <a:ext cx="11379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600" b="1">
                <a:solidFill>
                  <a:srgbClr val="ECE7DD"/>
                </a:solidFill>
              </a:rPr>
              <a:t>説教ではなく、体験として。</a:t>
            </a:r>
          </a:p>
        </p:txBody>
      </p:sp>
      <p:sp>
        <p:nvSpPr>
          <p:cNvPr id="212" name="r212"/>
          <p:cNvSpPr/>
          <p:nvPr/>
        </p:nvSpPr>
        <p:spPr>
          <a:xfrm>
            <a:off x="939800" y="1930400"/>
            <a:ext cx="15240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3"/>
          <p:cNvSpPr txBox="1"/>
          <p:nvPr/>
        </p:nvSpPr>
        <p:spPr>
          <a:xfrm>
            <a:off x="914400" y="2133600"/>
            <a:ext cx="11379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900">
                <a:solidFill>
                  <a:srgbClr val="B8B3A8"/>
                </a:solidFill>
              </a:rPr>
              <a:t>派手なゲームが溢れるいま、“等身大の物語”を差し出す。</a:t>
            </a:r>
          </a:p>
        </p:txBody>
      </p:sp>
      <p:sp>
        <p:nvSpPr>
          <p:cNvPr id="220" name="t220"/>
          <p:cNvSpPr txBox="1"/>
          <p:nvPr/>
        </p:nvSpPr>
        <p:spPr>
          <a:xfrm>
            <a:off x="1066800" y="2717800"/>
            <a:ext cx="9144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3600" b="1">
                <a:solidFill>
                  <a:srgbClr val="E8A33C"/>
                </a:solidFill>
              </a:rPr>
              <a:t>01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2184400" y="2717800"/>
            <a:ext cx="101092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200" b="1">
                <a:solidFill>
                  <a:srgbClr val="ECE7DD"/>
                </a:solidFill>
              </a:rPr>
              <a:t>断罪でも、同情でもなく。</a:t>
            </a:r>
          </a:p>
          <a:p>
            <a:pPr algn="l">
              <a:spcBef>
                <a:spcPts val="300"/>
              </a:spcBef>
            </a:pPr>
            <a:r>
              <a:rPr lang="ja-JP" sz="1600">
                <a:solidFill>
                  <a:srgbClr val="B8B3A8"/>
                </a:solidFill>
              </a:rPr>
              <a:t>無職・貧困を“都市を生き抜くゲーム”として体験する。彼らの毎日の判断を、自分の手で。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1066800" y="4114800"/>
            <a:ext cx="9144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3600" b="1">
                <a:solidFill>
                  <a:srgbClr val="E8A33C"/>
                </a:solidFill>
              </a:rPr>
              <a:t>02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2184400" y="4114800"/>
            <a:ext cx="101092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200" b="1">
                <a:solidFill>
                  <a:srgbClr val="ECE7DD"/>
                </a:solidFill>
              </a:rPr>
              <a:t>構造が、説教なしに伝わる。</a:t>
            </a:r>
          </a:p>
          <a:p>
            <a:pPr algn="l">
              <a:spcBef>
                <a:spcPts val="300"/>
              </a:spcBef>
            </a:pPr>
            <a:r>
              <a:rPr lang="ja-JP" sz="1600">
                <a:solidFill>
                  <a:srgbClr val="B8B3A8"/>
                </a:solidFill>
              </a:rPr>
              <a:t>貧しさと絶望が重なれば、人はゴミに賭けて食うしかない──それをプレイの帰結として理解する。</a:t>
            </a:r>
          </a:p>
        </p:txBody>
      </p:sp>
      <p:sp>
        <p:nvSpPr>
          <p:cNvPr id="224" name="t224"/>
          <p:cNvSpPr txBox="1"/>
          <p:nvPr/>
        </p:nvSpPr>
        <p:spPr>
          <a:xfrm>
            <a:off x="1066800" y="5511800"/>
            <a:ext cx="9144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3600" b="1">
                <a:solidFill>
                  <a:srgbClr val="E8A33C"/>
                </a:solidFill>
              </a:rPr>
              <a:t>03</a:t>
            </a:r>
          </a:p>
        </p:txBody>
      </p:sp>
      <p:sp>
        <p:nvSpPr>
          <p:cNvPr id="225" name="t225"/>
          <p:cNvSpPr txBox="1"/>
          <p:nvPr/>
        </p:nvSpPr>
        <p:spPr>
          <a:xfrm>
            <a:off x="2184400" y="5511800"/>
            <a:ext cx="101092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200" b="1">
                <a:solidFill>
                  <a:srgbClr val="ECE7DD"/>
                </a:solidFill>
              </a:rPr>
              <a:t>都市の圧力に、気づく。</a:t>
            </a:r>
          </a:p>
          <a:p>
            <a:pPr algn="l">
              <a:spcBef>
                <a:spcPts val="300"/>
              </a:spcBef>
            </a:pPr>
            <a:r>
              <a:rPr lang="ja-JP" sz="1600">
                <a:solidFill>
                  <a:srgbClr val="B8B3A8"/>
                </a:solidFill>
              </a:rPr>
              <a:t>敵対的建築。居着いた寝床が、静かに閉ざされていく無感情さ。</a:t>
            </a:r>
          </a:p>
        </p:txBody>
      </p:sp>
      <p:sp>
        <p:nvSpPr>
          <p:cNvPr id="260" name="r260"/>
          <p:cNvSpPr/>
          <p:nvPr/>
        </p:nvSpPr>
        <p:spPr>
          <a:xfrm>
            <a:off x="914400" y="7010400"/>
            <a:ext cx="11379200" cy="1905000"/>
          </a:xfrm>
          <a:prstGeom prst="roundRect">
            <a:avLst/>
          </a:prstGeom>
          <a:solidFill>
            <a:srgbClr val="26231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1" name="r261"/>
          <p:cNvSpPr/>
          <p:nvPr/>
        </p:nvSpPr>
        <p:spPr>
          <a:xfrm>
            <a:off x="914400" y="7010400"/>
            <a:ext cx="88900" cy="19050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2" name="t262"/>
          <p:cNvSpPr txBox="1"/>
          <p:nvPr/>
        </p:nvSpPr>
        <p:spPr>
          <a:xfrm>
            <a:off x="1320800" y="7010400"/>
            <a:ext cx="10566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600" b="1">
                <a:solidFill>
                  <a:srgbClr val="E8A33C"/>
                </a:solidFill>
              </a:rPr>
              <a:t>「金が買っているのは、確実性である。」</a:t>
            </a:r>
          </a:p>
          <a:p>
            <a:pPr algn="l">
              <a:spcBef>
                <a:spcPts val="400"/>
              </a:spcBef>
            </a:pPr>
            <a:r>
              <a:rPr lang="ja-JP" sz="1600">
                <a:solidFill>
                  <a:srgbClr val="D4CFC3"/>
                </a:solidFill>
              </a:rPr>
              <a:t>── 落ちぶれても死なない。ただ、返事をしなくなるだけ。</a:t>
            </a:r>
          </a:p>
        </p:txBody>
      </p:sp>
    </p:spTree>
    <p:extLst>
      <p:ext uri="{BB962C8B-B14F-4D97-AF65-F5344CB8AC3E}">
        <p14:creationId xmlns:p14="http://schemas.microsoft.com/office/powerpoint/2010/main" val="34065479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90"/>
          <p:cNvSpPr/>
          <p:nvPr/>
        </p:nvSpPr>
        <p:spPr>
          <a:xfrm>
            <a:off x="0" y="0"/>
            <a:ext cx="139700" cy="9753600"/>
          </a:xfrm>
          <a:prstGeom prst="rect">
            <a:avLst/>
          </a:prstGeom>
          <a:gradFill>
            <a:gsLst>
              <a:gs pos="0">
                <a:srgbClr val="E8A33C"/>
              </a:gs>
              <a:gs pos="100000">
                <a:srgbClr val="35322B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914400" y="2616200"/>
            <a:ext cx="685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1" spc="400">
                <a:solidFill>
                  <a:srgbClr val="E8A33C"/>
                </a:solidFill>
              </a:rPr>
              <a:t>今すぐ、あそぶ。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914400" y="30480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5400" b="1">
                <a:solidFill>
                  <a:srgbClr val="ECE7DD"/>
                </a:solidFill>
              </a:rPr>
              <a:t>今日も、無職</a:t>
            </a:r>
            <a:r>
              <a:rPr lang="ja-JP" sz="5400" b="1">
                <a:solidFill>
                  <a:srgbClr val="E8A33C"/>
                </a:solidFill>
              </a:rPr>
              <a:t>。</a:t>
            </a:r>
          </a:p>
        </p:txBody>
      </p:sp>
      <p:sp>
        <p:nvSpPr>
          <p:cNvPr id="212" name="r212"/>
          <p:cNvSpPr/>
          <p:nvPr/>
        </p:nvSpPr>
        <p:spPr>
          <a:xfrm>
            <a:off x="939800" y="4572000"/>
            <a:ext cx="1524000" cy="63500"/>
          </a:xfrm>
          <a:prstGeom prst="rect">
            <a:avLst/>
          </a:prstGeom>
          <a:solidFill>
            <a:srgbClr val="E8A3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t213"/>
          <p:cNvSpPr txBox="1"/>
          <p:nvPr/>
        </p:nvSpPr>
        <p:spPr>
          <a:xfrm>
            <a:off x="914400" y="48260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2400" b="1">
                <a:solidFill>
                  <a:srgbClr val="ECE7DD"/>
                </a:solidFill>
              </a:rPr>
              <a:t>拾って、逃げて、その日を生きる。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914400" y="55880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altLang="en-US" sz="1800" dirty="0">
                <a:solidFill>
                  <a:srgbClr val="B8B3A8"/>
                </a:solidFill>
              </a:rPr>
              <a:t>体験版</a:t>
            </a:r>
            <a:r>
              <a:rPr lang="ja-JP" sz="1800" dirty="0">
                <a:solidFill>
                  <a:srgbClr val="B8B3A8"/>
                </a:solidFill>
              </a:rPr>
              <a:t>（1周 約20〜30分）公開中。</a:t>
            </a:r>
          </a:p>
          <a:p>
            <a:pPr algn="l">
              <a:spcBef>
                <a:spcPts val="300"/>
              </a:spcBef>
            </a:pPr>
            <a:r>
              <a:rPr lang="ja-JP" sz="1800" dirty="0">
                <a:solidFill>
                  <a:srgbClr val="B8B3A8"/>
                </a:solidFill>
              </a:rPr>
              <a:t>気が向いたら、この都市を生き延びてみてください。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914400" y="8610600"/>
            <a:ext cx="685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 b="1">
                <a:solidFill>
                  <a:srgbClr val="E8A33C"/>
                </a:solidFill>
              </a:rPr>
              <a:t>制作　</a:t>
            </a:r>
            <a:r>
              <a:rPr lang="ja-JP" sz="1600">
                <a:solidFill>
                  <a:srgbClr val="B8B3A8"/>
                </a:solidFill>
              </a:rPr>
              <a:t>無職研究会　｜　メンバー名・メンバー名</a:t>
            </a:r>
          </a:p>
        </p:txBody>
      </p:sp>
      <p:sp>
        <p:nvSpPr>
          <p:cNvPr id="220" name="r220"/>
          <p:cNvSpPr/>
          <p:nvPr/>
        </p:nvSpPr>
        <p:spPr>
          <a:xfrm>
            <a:off x="8204200" y="2717800"/>
            <a:ext cx="3810000" cy="3810000"/>
          </a:xfrm>
          <a:prstGeom prst="roundRect">
            <a:avLst/>
          </a:prstGeom>
          <a:solidFill>
            <a:srgbClr val="F4F1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221"/>
          <p:cNvSpPr txBox="1"/>
          <p:nvPr/>
        </p:nvSpPr>
        <p:spPr>
          <a:xfrm>
            <a:off x="8204200" y="6731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ja-JP" sz="1600" b="1">
                <a:solidFill>
                  <a:srgbClr val="ECE7DD"/>
                </a:solidFill>
              </a:rPr>
              <a:t>スマホのカメラで読み取る</a:t>
            </a:r>
          </a:p>
          <a:p>
            <a:pPr algn="ctr">
              <a:spcBef>
                <a:spcPts val="300"/>
              </a:spcBef>
            </a:pPr>
            <a:r>
              <a:rPr lang="ja-JP" sz="1500" b="1">
                <a:solidFill>
                  <a:srgbClr val="E8A33C"/>
                </a:solidFill>
              </a:rPr>
              <a:t>→　Releases ページからダウンロード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F693BE-E0F7-91FF-172B-DF14869B4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00" y="30988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312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Gill Sans"/>
        <a:ea typeface="Gill Sans"/>
        <a:cs typeface="Gill Sans"/>
      </a:majorFont>
      <a:minorFont>
        <a:latin typeface="ヒラギノ角ゴ Pro W3"/>
        <a:ea typeface="ヒラギノ角ゴ Pro W3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 [1784204298669]">
  <a:themeElements>
    <a:clrScheme name="Black">
      <a:dk1>
        <a:srgbClr val="ECE7DD"/>
      </a:dk1>
      <a:lt1>
        <a:srgbClr val="141310"/>
      </a:lt1>
      <a:dk2>
        <a:srgbClr val="9C978B"/>
      </a:dk2>
      <a:lt2>
        <a:srgbClr val="2A2721"/>
      </a:lt2>
      <a:accent1>
        <a:srgbClr val="E8A33C"/>
      </a:accent1>
      <a:accent2>
        <a:srgbClr val="B4462E"/>
      </a:accent2>
      <a:accent3>
        <a:srgbClr val="6E6A5F"/>
      </a:accent3>
      <a:accent4>
        <a:srgbClr val="D8D2C4"/>
      </a:accent4>
      <a:accent5>
        <a:srgbClr val="3A362E"/>
      </a:accent5>
      <a:accent6>
        <a:srgbClr val="C7872B"/>
      </a:accent6>
      <a:hlink>
        <a:srgbClr val="0000FF"/>
      </a:hlink>
      <a:folHlink>
        <a:srgbClr val="FF00FF"/>
      </a:folHlink>
    </a:clrScheme>
    <a:fontScheme name="Black">
      <a:majorFont>
        <a:latin typeface="Arial"/>
        <a:ea typeface="游ゴシック"/>
        <a:cs typeface="Gill Sans"/>
      </a:majorFont>
      <a:minorFont>
        <a:latin typeface="Arial"/>
        <a:ea typeface="游ゴシック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Black [1784204350290]">
  <a:themeElements>
    <a:clrScheme name="Black">
      <a:dk1>
        <a:srgbClr val="ECE7DD"/>
      </a:dk1>
      <a:lt1>
        <a:srgbClr val="141310"/>
      </a:lt1>
      <a:dk2>
        <a:srgbClr val="9C978B"/>
      </a:dk2>
      <a:lt2>
        <a:srgbClr val="2A2721"/>
      </a:lt2>
      <a:accent1>
        <a:srgbClr val="E8A33C"/>
      </a:accent1>
      <a:accent2>
        <a:srgbClr val="B4462E"/>
      </a:accent2>
      <a:accent3>
        <a:srgbClr val="6E6A5F"/>
      </a:accent3>
      <a:accent4>
        <a:srgbClr val="D8D2C4"/>
      </a:accent4>
      <a:accent5>
        <a:srgbClr val="3A362E"/>
      </a:accent5>
      <a:accent6>
        <a:srgbClr val="C7872B"/>
      </a:accent6>
      <a:hlink>
        <a:srgbClr val="0000FF"/>
      </a:hlink>
      <a:folHlink>
        <a:srgbClr val="FF00FF"/>
      </a:folHlink>
    </a:clrScheme>
    <a:fontScheme name="Black">
      <a:majorFont>
        <a:latin typeface="Arial"/>
        <a:ea typeface="游ゴシック"/>
        <a:cs typeface="Gill Sans"/>
      </a:majorFont>
      <a:minorFont>
        <a:latin typeface="Arial"/>
        <a:ea typeface="游ゴシック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Black [1784204375196]">
  <a:themeElements>
    <a:clrScheme name="Black">
      <a:dk1>
        <a:srgbClr val="ECE7DD"/>
      </a:dk1>
      <a:lt1>
        <a:srgbClr val="141310"/>
      </a:lt1>
      <a:dk2>
        <a:srgbClr val="9C978B"/>
      </a:dk2>
      <a:lt2>
        <a:srgbClr val="2A2721"/>
      </a:lt2>
      <a:accent1>
        <a:srgbClr val="E8A33C"/>
      </a:accent1>
      <a:accent2>
        <a:srgbClr val="B4462E"/>
      </a:accent2>
      <a:accent3>
        <a:srgbClr val="6E6A5F"/>
      </a:accent3>
      <a:accent4>
        <a:srgbClr val="D8D2C4"/>
      </a:accent4>
      <a:accent5>
        <a:srgbClr val="3A362E"/>
      </a:accent5>
      <a:accent6>
        <a:srgbClr val="C7872B"/>
      </a:accent6>
      <a:hlink>
        <a:srgbClr val="0000FF"/>
      </a:hlink>
      <a:folHlink>
        <a:srgbClr val="FF00FF"/>
      </a:folHlink>
    </a:clrScheme>
    <a:fontScheme name="Black">
      <a:majorFont>
        <a:latin typeface="Arial"/>
        <a:ea typeface="游ゴシック"/>
        <a:cs typeface="Gill Sans"/>
      </a:majorFont>
      <a:minorFont>
        <a:latin typeface="Arial"/>
        <a:ea typeface="游ゴシック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Black [1784204808208]">
  <a:themeElements>
    <a:clrScheme name="Black">
      <a:dk1>
        <a:srgbClr val="ECE7DD"/>
      </a:dk1>
      <a:lt1>
        <a:srgbClr val="141310"/>
      </a:lt1>
      <a:dk2>
        <a:srgbClr val="9C978B"/>
      </a:dk2>
      <a:lt2>
        <a:srgbClr val="2A2721"/>
      </a:lt2>
      <a:accent1>
        <a:srgbClr val="E8A33C"/>
      </a:accent1>
      <a:accent2>
        <a:srgbClr val="B4462E"/>
      </a:accent2>
      <a:accent3>
        <a:srgbClr val="6E6A5F"/>
      </a:accent3>
      <a:accent4>
        <a:srgbClr val="D8D2C4"/>
      </a:accent4>
      <a:accent5>
        <a:srgbClr val="3A362E"/>
      </a:accent5>
      <a:accent6>
        <a:srgbClr val="C7872B"/>
      </a:accent6>
      <a:hlink>
        <a:srgbClr val="0000FF"/>
      </a:hlink>
      <a:folHlink>
        <a:srgbClr val="FF00FF"/>
      </a:folHlink>
    </a:clrScheme>
    <a:fontScheme name="Black">
      <a:majorFont>
        <a:latin typeface="Arial"/>
        <a:ea typeface="游ゴシック"/>
        <a:cs typeface="Gill Sans"/>
      </a:majorFont>
      <a:minorFont>
        <a:latin typeface="Arial"/>
        <a:ea typeface="游ゴシック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6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Gill Sans"/>
        <a:ea typeface="Gill Sans"/>
        <a:cs typeface="Gill Sans"/>
      </a:majorFont>
      <a:minorFont>
        <a:latin typeface="ヒラギノ角ゴ Pro W3"/>
        <a:ea typeface="ヒラギノ角ゴ Pro W3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7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Gill Sans"/>
        <a:ea typeface="Gill Sans"/>
        <a:cs typeface="Gill Sans"/>
      </a:majorFont>
      <a:minorFont>
        <a:latin typeface="ヒラギノ角ゴ Pro W3"/>
        <a:ea typeface="ヒラギノ角ゴ Pro W3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8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Gill Sans"/>
        <a:ea typeface="Gill Sans"/>
        <a:cs typeface="Gill Sans"/>
      </a:majorFont>
      <a:minorFont>
        <a:latin typeface="ヒラギノ角ゴ Pro W3"/>
        <a:ea typeface="ヒラギノ角ゴ Pro W3"/>
        <a:cs typeface="ヒラギノ角ゴ Pro W3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3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2C23BF-AD82-4753-B3A8-0F65807B5397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35b6b476-70ff-4ef8-82c9-91ab1561991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b26e49b-9de0-4ad5-9d90-0bd5a3f4e92d" xsi:nil="true"/>
    <lcf76f155ced4ddcb4097134ff3c332f xmlns="0b26e49b-9de0-4ad5-9d90-0bd5a3f4e92d">
      <Terms xmlns="http://schemas.microsoft.com/office/infopath/2007/PartnerControls"/>
    </lcf76f155ced4ddcb4097134ff3c332f>
    <TaxCatchAll xmlns="7bbcec5d-06a6-42a8-add7-60721541cd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DD3CA90816FD845AA5A2B7220FF2ECE" ma:contentTypeVersion="11" ma:contentTypeDescription="新しいドキュメントを作成します。" ma:contentTypeScope="" ma:versionID="70cc5e87067bdcdbe69060797e73e088">
  <xsd:schema xmlns:xsd="http://www.w3.org/2001/XMLSchema" xmlns:xs="http://www.w3.org/2001/XMLSchema" xmlns:p="http://schemas.microsoft.com/office/2006/metadata/properties" xmlns:ns2="0b26e49b-9de0-4ad5-9d90-0bd5a3f4e92d" xmlns:ns3="7bbcec5d-06a6-42a8-add7-60721541cd5d" targetNamespace="http://schemas.microsoft.com/office/2006/metadata/properties" ma:root="true" ma:fieldsID="cd8118794751b79b91ca9fb81e7f6116" ns2:_="" ns3:_="">
    <xsd:import namespace="0b26e49b-9de0-4ad5-9d90-0bd5a3f4e92d"/>
    <xsd:import namespace="7bbcec5d-06a6-42a8-add7-60721541cd5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6e49b-9de0-4ad5-9d90-0bd5a3f4e92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画像タグ" ma:readOnly="false" ma:fieldId="{5cf76f15-5ced-4ddc-b409-7134ff3c332f}" ma:taxonomyMulti="true" ma:sspId="a86adb34-9094-409a-90b9-a7c5bc646e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bcec5d-06a6-42a8-add7-60721541cd5d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951b1ca-6681-4abc-a8cb-8e91de55c162}" ma:internalName="TaxCatchAll" ma:showField="CatchAllData" ma:web="7bbcec5d-06a6-42a8-add7-60721541cd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925611-9F98-4311-8480-6FB78E2AADBA}">
  <ds:schemaRefs>
    <ds:schemaRef ds:uri="http://schemas.microsoft.com/office/2006/metadata/properties"/>
    <ds:schemaRef ds:uri="http://schemas.microsoft.com/office/infopath/2007/PartnerControls"/>
    <ds:schemaRef ds:uri="0b26e49b-9de0-4ad5-9d90-0bd5a3f4e92d"/>
    <ds:schemaRef ds:uri="7bbcec5d-06a6-42a8-add7-60721541cd5d"/>
  </ds:schemaRefs>
</ds:datastoreItem>
</file>

<file path=customXml/itemProps2.xml><?xml version="1.0" encoding="utf-8"?>
<ds:datastoreItem xmlns:ds="http://schemas.openxmlformats.org/officeDocument/2006/customXml" ds:itemID="{A3D14665-0B50-46B0-A7EA-28574C7FBC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E280AE-7F77-4A9D-AB9C-F17F3D38EC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26e49b-9de0-4ad5-9d90-0bd5a3f4e92d"/>
    <ds:schemaRef ds:uri="7bbcec5d-06a6-42a8-add7-60721541cd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948</Words>
  <Application>Microsoft Office PowerPoint</Application>
  <PresentationFormat>自定义</PresentationFormat>
  <Paragraphs>137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Yu Gothic Medium</vt:lpstr>
      <vt:lpstr>ヒラギノ角ゴ Pro W3</vt:lpstr>
      <vt:lpstr>Arial</vt:lpstr>
      <vt:lpstr>Helvetica</vt:lpstr>
      <vt:lpstr>Black</vt:lpstr>
      <vt:lpstr>Black [1784204298669]</vt:lpstr>
      <vt:lpstr>Black [1784204350290]</vt:lpstr>
      <vt:lpstr>Black [1784204375196]</vt:lpstr>
      <vt:lpstr>Black [1784204808208]</vt:lpstr>
      <vt:lpstr>Black</vt:lpstr>
      <vt:lpstr>Black</vt:lpstr>
      <vt:lpstr>拾って、逃げて、その日を生きる。 都市に排除される者から、都市を使いこなす者へ。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コンセプトとは？</dc:title>
  <cp:lastModifiedBy>THPI11A17537 リュウキンヨウ</cp:lastModifiedBy>
  <cp:revision>19</cp:revision>
  <dcterms:modified xsi:type="dcterms:W3CDTF">2026-07-16T13:32:45Z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0x0101006DD3CA90816FD845AA5A2B7220FF2ECE</vt:lpwstr>
  </property>
</Properties>
</file>